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650" r:id="rId5"/>
    <p:sldMasterId id="2147483660" r:id="rId6"/>
  </p:sldMasterIdLst>
  <p:notesMasterIdLst>
    <p:notesMasterId r:id="rId18"/>
  </p:notesMasterIdLst>
  <p:handoutMasterIdLst>
    <p:handoutMasterId r:id="rId19"/>
  </p:handoutMasterIdLst>
  <p:sldIdLst>
    <p:sldId id="259" r:id="rId7"/>
    <p:sldId id="261" r:id="rId8"/>
    <p:sldId id="421" r:id="rId9"/>
    <p:sldId id="422" r:id="rId10"/>
    <p:sldId id="423" r:id="rId11"/>
    <p:sldId id="424" r:id="rId12"/>
    <p:sldId id="425" r:id="rId13"/>
    <p:sldId id="426" r:id="rId14"/>
    <p:sldId id="427" r:id="rId15"/>
    <p:sldId id="428" r:id="rId16"/>
    <p:sldId id="429" r:id="rId17"/>
  </p:sldIdLst>
  <p:sldSz cx="9144000" cy="6858000" type="screen4x3"/>
  <p:notesSz cx="6858000" cy="9144000"/>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1938"/>
    <a:srgbClr val="002868"/>
    <a:srgbClr val="100E42"/>
    <a:srgbClr val="100E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52" autoAdjust="0"/>
    <p:restoredTop sz="71197"/>
  </p:normalViewPr>
  <p:slideViewPr>
    <p:cSldViewPr snapToGrid="0" snapToObjects="1" showGuides="1">
      <p:cViewPr varScale="1">
        <p:scale>
          <a:sx n="115" d="100"/>
          <a:sy n="115" d="100"/>
        </p:scale>
        <p:origin x="3006" y="102"/>
      </p:cViewPr>
      <p:guideLst>
        <p:guide orient="horz" pos="2122"/>
        <p:guide pos="2880"/>
      </p:guideLst>
    </p:cSldViewPr>
  </p:slideViewPr>
  <p:notesTextViewPr>
    <p:cViewPr>
      <p:scale>
        <a:sx n="100" d="100"/>
        <a:sy n="100" d="100"/>
      </p:scale>
      <p:origin x="0" y="0"/>
    </p:cViewPr>
  </p:notesTextViewPr>
  <p:sorterViewPr>
    <p:cViewPr>
      <p:scale>
        <a:sx n="149" d="100"/>
        <a:sy n="149"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D10BE6C-4C0C-8046-BBFD-371AD798216A}" type="datetimeFigureOut">
              <a:rPr lang="en-US" smtClean="0"/>
              <a:t>11/15/2025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C9EFCB1-D51F-8E41-88AA-D42180FBBA7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F4FEA-69DF-7F43-AD1E-B7B3A7E2006D}" type="datetimeFigureOut">
              <a:rPr lang="en-US" smtClean="0"/>
              <a:t>11/15/2025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487BEB-7D52-F246-96FB-EA8FE8423B3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C487BEB-7D52-F246-96FB-EA8FE8423B39}"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0" dirty="0"/>
              <a:t>“In this project, we focus on understanding and predicting the behavior of the Linux kernel scheduler.</a:t>
            </a:r>
            <a:br>
              <a:rPr lang="en-US" b="0" dirty="0"/>
            </a:br>
            <a:r>
              <a:rPr lang="en-US" b="0" dirty="0"/>
              <a:t>The scheduler plays a central role in any operating system: it decides which task runs next, how long it stays on the CPU, and ultimately determines the responsiveness and overall performance of the system. Even very small changes in the scheduling pattern can affect throughput, latency, and user experience.”</a:t>
            </a:r>
            <a:br>
              <a:rPr lang="en-US" b="0" dirty="0"/>
            </a:br>
            <a:endParaRPr lang="en-US" b="0" dirty="0"/>
          </a:p>
          <a:p>
            <a:r>
              <a:rPr lang="en-US" b="0" dirty="0"/>
              <a:t>“If we could reliably predict the scheduler’s future decisions, we would gain powerful capabilities.</a:t>
            </a:r>
            <a:br>
              <a:rPr lang="en-US" b="0" dirty="0"/>
            </a:br>
            <a:r>
              <a:rPr lang="en-US" b="0" dirty="0"/>
              <a:t>For example, we could analyze scheduling bottlenecks, detect abnormal patterns, reduce unnecessary context switches, or even guide scheduling strategies in specialized environments. In other words, scheduler prediction is both intellectually interesting and practically useful.”</a:t>
            </a:r>
          </a:p>
          <a:p>
            <a:endParaRPr lang="en-US" b="0" dirty="0"/>
          </a:p>
          <a:p>
            <a:r>
              <a:rPr lang="en-US" b="0" dirty="0"/>
              <a:t>“This is the motivation behind the original </a:t>
            </a:r>
            <a:r>
              <a:rPr lang="en-US" b="0" dirty="0" err="1"/>
              <a:t>KernelOracle</a:t>
            </a:r>
            <a:r>
              <a:rPr lang="en-US" b="0" dirty="0"/>
              <a:t> project.</a:t>
            </a:r>
            <a:br>
              <a:rPr lang="en-US" b="0" dirty="0"/>
            </a:br>
            <a:r>
              <a:rPr lang="en-US" b="0" dirty="0" err="1"/>
              <a:t>KernelOracle</a:t>
            </a:r>
            <a:r>
              <a:rPr lang="en-US" b="0" dirty="0"/>
              <a:t> attempts to model Linux scheduling events as a time series and to use an LSTM-based neural network to forecast the next thousand steps of the scheduling sequence. The goal is to learn temporal patterns from real perf traces and generate long-horizon predictions of task execution behavior.”</a:t>
            </a:r>
            <a:br>
              <a:rPr lang="en-US" b="0" dirty="0"/>
            </a:br>
            <a:endParaRPr lang="en-US" b="0" dirty="0"/>
          </a:p>
          <a:p>
            <a:r>
              <a:rPr lang="en-US" b="0" dirty="0"/>
              <a:t>“So this project begins with a simple but ambitious question:</a:t>
            </a:r>
            <a:br>
              <a:rPr lang="en-US" b="0" dirty="0"/>
            </a:br>
            <a:r>
              <a:rPr lang="en-US" b="0" i="1" dirty="0"/>
              <a:t>Can we learn and predict how the Linux scheduler behaves over time?</a:t>
            </a:r>
            <a:br>
              <a:rPr lang="en-US" b="0" dirty="0"/>
            </a:br>
            <a:r>
              <a:rPr lang="en-US" b="0" dirty="0"/>
              <a:t>This forms the foundation of our work and sets the stage for the improvements I will introduce next.”</a:t>
            </a:r>
          </a:p>
          <a:p>
            <a:endParaRPr lang="en-US" dirty="0"/>
          </a:p>
        </p:txBody>
      </p:sp>
      <p:sp>
        <p:nvSpPr>
          <p:cNvPr id="4" name="Slide Number Placeholder 3"/>
          <p:cNvSpPr>
            <a:spLocks noGrp="1"/>
          </p:cNvSpPr>
          <p:nvPr>
            <p:ph type="sldNum" sz="quarter" idx="5"/>
          </p:nvPr>
        </p:nvSpPr>
        <p:spPr/>
        <p:txBody>
          <a:bodyPr/>
          <a:lstStyle/>
          <a:p>
            <a:fld id="{5C487BEB-7D52-F246-96FB-EA8FE8423B39}"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5C429-5E02-3D07-A320-D53CDCF01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E4DC1-05D7-357E-CE56-2CB767B605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550BF13-ECAD-590A-8E74-65E5AC9B6B48}"/>
              </a:ext>
            </a:extLst>
          </p:cNvPr>
          <p:cNvSpPr>
            <a:spLocks noGrp="1"/>
          </p:cNvSpPr>
          <p:nvPr>
            <p:ph type="body" idx="1"/>
          </p:nvPr>
        </p:nvSpPr>
        <p:spPr/>
        <p:txBody>
          <a:bodyPr/>
          <a:lstStyle/>
          <a:p>
            <a:r>
              <a:rPr lang="en-US" b="0" dirty="0"/>
              <a:t>“Before improving the system, it is important to recognize the limitations of the original </a:t>
            </a:r>
            <a:r>
              <a:rPr lang="en-US" b="0" dirty="0" err="1"/>
              <a:t>KernelOracle</a:t>
            </a:r>
            <a:r>
              <a:rPr lang="en-US" b="0" dirty="0"/>
              <a:t> design. The first and most fundamental issue is that the original project assumes all Linux systems exhibit predictable scheduling patterns. In reality, this assumption does not hold. Standalone Linux machines, or systems with only a few irregular users, tend to have highly noisy and inconsistent workloads. Under such conditions, predicting scheduler behavior is essentially impossible.”</a:t>
            </a:r>
          </a:p>
          <a:p>
            <a:endParaRPr lang="en-US" b="0" dirty="0"/>
          </a:p>
          <a:p>
            <a:r>
              <a:rPr lang="en-US" b="0" dirty="0"/>
              <a:t>“This unrealistic assumption leads to practical problems in the model. The original </a:t>
            </a:r>
            <a:r>
              <a:rPr lang="en-US" b="0" dirty="0" err="1"/>
              <a:t>LSTMCell</a:t>
            </a:r>
            <a:r>
              <a:rPr lang="en-US" b="0" dirty="0"/>
              <a:t>-based architecture produces unstable long-horizon forecasts. When the model enters free-running prediction mode, the output begins to oscillate dramatically, especially in the baseline result shown here. These oscillations are not meaningful patterns—they are simply artifacts of model instability.”</a:t>
            </a:r>
          </a:p>
          <a:p>
            <a:endParaRPr lang="en-US" b="0" dirty="0"/>
          </a:p>
          <a:p>
            <a:r>
              <a:rPr lang="en-US" b="0" dirty="0"/>
              <a:t>“From an engineering perspective, the system also suffers from several technical limitations. It uses step-wise </a:t>
            </a:r>
            <a:r>
              <a:rPr lang="en-US" b="0" dirty="0" err="1"/>
              <a:t>LSTMCell</a:t>
            </a:r>
            <a:r>
              <a:rPr lang="en-US" b="0" dirty="0"/>
              <a:t> loops implemented in Python, which are slow and inefficient. The LBFGS optimizer further slows down training and causes unstable gradient behavior. In addition, the pipeline lacks essential ML components such as a validation set, early stopping, reproducible configuration files, structured logging, and model checkpointing. Altogether, the original system is more of a proof-of-concept rather than a robust or deployable tool.”</a:t>
            </a:r>
            <a:br>
              <a:rPr lang="en-US" b="0" dirty="0"/>
            </a:br>
            <a:endParaRPr lang="en-US" b="0" dirty="0"/>
          </a:p>
          <a:p>
            <a:r>
              <a:rPr lang="en-US" b="0" dirty="0"/>
              <a:t>“These limitations strongly motivate the redesign work that follows, including narrowing the application scope and rebuilding the architecture, training pipeline, and engineering tools to create a more stable and reliable system.”</a:t>
            </a:r>
          </a:p>
          <a:p>
            <a:endParaRPr lang="en-US" dirty="0"/>
          </a:p>
        </p:txBody>
      </p:sp>
      <p:sp>
        <p:nvSpPr>
          <p:cNvPr id="4" name="Slide Number Placeholder 3">
            <a:extLst>
              <a:ext uri="{FF2B5EF4-FFF2-40B4-BE49-F238E27FC236}">
                <a16:creationId xmlns:a16="http://schemas.microsoft.com/office/drawing/2014/main" id="{97E150A7-9425-5307-112B-5FFB76664DFE}"/>
              </a:ext>
            </a:extLst>
          </p:cNvPr>
          <p:cNvSpPr>
            <a:spLocks noGrp="1"/>
          </p:cNvSpPr>
          <p:nvPr>
            <p:ph type="sldNum" sz="quarter" idx="5"/>
          </p:nvPr>
        </p:nvSpPr>
        <p:spPr/>
        <p:txBody>
          <a:bodyPr/>
          <a:lstStyle/>
          <a:p>
            <a:fld id="{5C487BEB-7D52-F246-96FB-EA8FE8423B39}" type="slidenum">
              <a:rPr lang="en-US" smtClean="0"/>
              <a:t>3</a:t>
            </a:fld>
            <a:endParaRPr lang="en-US"/>
          </a:p>
        </p:txBody>
      </p:sp>
    </p:spTree>
    <p:extLst>
      <p:ext uri="{BB962C8B-B14F-4D97-AF65-F5344CB8AC3E}">
        <p14:creationId xmlns:p14="http://schemas.microsoft.com/office/powerpoint/2010/main" val="2900239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30214-658B-C3D6-4068-F4488E170C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ABEF44-EA44-E1E1-83FA-D5DD2D5189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8E4DAD-A64C-BD23-0738-D7E58835AD8B}"/>
              </a:ext>
            </a:extLst>
          </p:cNvPr>
          <p:cNvSpPr>
            <a:spLocks noGrp="1"/>
          </p:cNvSpPr>
          <p:nvPr>
            <p:ph type="body" idx="1"/>
          </p:nvPr>
        </p:nvSpPr>
        <p:spPr/>
        <p:txBody>
          <a:bodyPr/>
          <a:lstStyle/>
          <a:p>
            <a:r>
              <a:rPr lang="en-US" b="0" dirty="0"/>
              <a:t>“One of the key insights during this project is that the original </a:t>
            </a:r>
            <a:r>
              <a:rPr lang="en-US" b="0" dirty="0" err="1"/>
              <a:t>KernelOracle</a:t>
            </a:r>
            <a:br>
              <a:rPr lang="en-US" b="0" dirty="0"/>
            </a:br>
            <a:r>
              <a:rPr lang="en-US" b="0" dirty="0"/>
              <a:t>was trying to solve a problem that is often unsolvable in practice. It assumes</a:t>
            </a:r>
            <a:br>
              <a:rPr lang="en-US" b="0" dirty="0"/>
            </a:br>
            <a:r>
              <a:rPr lang="en-US" b="0" dirty="0"/>
              <a:t>that any Linux system—no matter how it is used—will exhibit predictable</a:t>
            </a:r>
            <a:br>
              <a:rPr lang="en-US" b="0" dirty="0"/>
            </a:br>
            <a:r>
              <a:rPr lang="en-US" b="0" dirty="0"/>
              <a:t>scheduler behavior. But this simply isn’t true. For many standalone systems or</a:t>
            </a:r>
            <a:br>
              <a:rPr lang="en-US" b="0" dirty="0"/>
            </a:br>
            <a:r>
              <a:rPr lang="en-US" b="0" dirty="0"/>
              <a:t>machines used by only a few inconsistent users, workloads are irregular and</a:t>
            </a:r>
            <a:br>
              <a:rPr lang="en-US" b="0" dirty="0"/>
            </a:br>
            <a:r>
              <a:rPr lang="en-US" b="0" dirty="0"/>
              <a:t>noisy, making the scheduling patterns essentially unpredictable.”</a:t>
            </a:r>
          </a:p>
          <a:p>
            <a:endParaRPr lang="en-US" b="0" dirty="0"/>
          </a:p>
          <a:p>
            <a:r>
              <a:rPr lang="en-US" b="0" dirty="0"/>
              <a:t>“This means that, even with a better model, the prediction task itself is not</a:t>
            </a:r>
            <a:br>
              <a:rPr lang="en-US" b="0" dirty="0"/>
            </a:br>
            <a:r>
              <a:rPr lang="en-US" b="0" dirty="0"/>
              <a:t>well-posed unless we restrict the domain. To address this, I refined the scope</a:t>
            </a:r>
            <a:br>
              <a:rPr lang="en-US" b="0" dirty="0"/>
            </a:br>
            <a:r>
              <a:rPr lang="en-US" b="0" dirty="0"/>
              <a:t>of the project and focused on environments where the scheduler actually follows</a:t>
            </a:r>
            <a:br>
              <a:rPr lang="en-US" b="0" dirty="0"/>
            </a:br>
            <a:r>
              <a:rPr lang="en-US" b="0" dirty="0"/>
              <a:t>consistent temporal patterns. These include cloud servers, web applications,</a:t>
            </a:r>
            <a:br>
              <a:rPr lang="en-US" b="0" dirty="0"/>
            </a:br>
            <a:r>
              <a:rPr lang="en-US" b="0" dirty="0"/>
              <a:t>microservice backends, and enterprise workloads, where user behavior is</a:t>
            </a:r>
            <a:br>
              <a:rPr lang="en-US" b="0" dirty="0"/>
            </a:br>
            <a:r>
              <a:rPr lang="en-US" b="0" dirty="0"/>
              <a:t>relatively stable and often periodic or repetitive.”</a:t>
            </a:r>
            <a:br>
              <a:rPr lang="en-US" b="0" dirty="0"/>
            </a:br>
            <a:endParaRPr lang="en-US" b="0" dirty="0"/>
          </a:p>
          <a:p>
            <a:r>
              <a:rPr lang="en-US" b="0" dirty="0"/>
              <a:t>“This refinement narrows the applicability of the system, but it dramatically</a:t>
            </a:r>
            <a:br>
              <a:rPr lang="en-US" b="0" dirty="0"/>
            </a:br>
            <a:r>
              <a:rPr lang="en-US" b="0" dirty="0"/>
              <a:t>improves the realism and practical value of the prediction task. In these more</a:t>
            </a:r>
            <a:br>
              <a:rPr lang="en-US" b="0" dirty="0"/>
            </a:br>
            <a:r>
              <a:rPr lang="en-US" b="0" dirty="0"/>
              <a:t>structured environments, temporal regularities exist, so an LSTM model can learn</a:t>
            </a:r>
            <a:br>
              <a:rPr lang="en-US" b="0" dirty="0"/>
            </a:br>
            <a:r>
              <a:rPr lang="en-US" b="0" dirty="0"/>
              <a:t>meaningful patterns rather than modeling noise. In short: prediction becomes not</a:t>
            </a:r>
            <a:br>
              <a:rPr lang="en-US" b="0" dirty="0"/>
            </a:br>
            <a:r>
              <a:rPr lang="en-US" b="0" dirty="0"/>
              <a:t>only possible, but useful.”</a:t>
            </a:r>
          </a:p>
          <a:p>
            <a:endParaRPr lang="en-US" b="0" dirty="0"/>
          </a:p>
          <a:p>
            <a:r>
              <a:rPr lang="en-US" b="0" dirty="0"/>
              <a:t>“This scope refinement serves as the conceptual foundation for the redesign of</a:t>
            </a:r>
            <a:br>
              <a:rPr lang="en-US" b="0" dirty="0"/>
            </a:br>
            <a:r>
              <a:rPr lang="en-US" b="0" dirty="0" err="1"/>
              <a:t>KernelOracle</a:t>
            </a:r>
            <a:r>
              <a:rPr lang="en-US" b="0" dirty="0"/>
              <a:t>. With a more realistic target environment, we can build a model and</a:t>
            </a:r>
            <a:br>
              <a:rPr lang="en-US" b="0" dirty="0"/>
            </a:br>
            <a:r>
              <a:rPr lang="en-US" b="0" dirty="0"/>
              <a:t>training pipeline that produce credible and actionable predictions.”</a:t>
            </a:r>
          </a:p>
          <a:p>
            <a:endParaRPr lang="en-US" dirty="0"/>
          </a:p>
        </p:txBody>
      </p:sp>
      <p:sp>
        <p:nvSpPr>
          <p:cNvPr id="4" name="Slide Number Placeholder 3">
            <a:extLst>
              <a:ext uri="{FF2B5EF4-FFF2-40B4-BE49-F238E27FC236}">
                <a16:creationId xmlns:a16="http://schemas.microsoft.com/office/drawing/2014/main" id="{735B6865-BAF6-F8AF-31FC-1183F995C757}"/>
              </a:ext>
            </a:extLst>
          </p:cNvPr>
          <p:cNvSpPr>
            <a:spLocks noGrp="1"/>
          </p:cNvSpPr>
          <p:nvPr>
            <p:ph type="sldNum" sz="quarter" idx="5"/>
          </p:nvPr>
        </p:nvSpPr>
        <p:spPr/>
        <p:txBody>
          <a:bodyPr/>
          <a:lstStyle/>
          <a:p>
            <a:fld id="{5C487BEB-7D52-F246-96FB-EA8FE8423B39}" type="slidenum">
              <a:rPr lang="en-US" smtClean="0"/>
              <a:t>4</a:t>
            </a:fld>
            <a:endParaRPr lang="en-US"/>
          </a:p>
        </p:txBody>
      </p:sp>
    </p:spTree>
    <p:extLst>
      <p:ext uri="{BB962C8B-B14F-4D97-AF65-F5344CB8AC3E}">
        <p14:creationId xmlns:p14="http://schemas.microsoft.com/office/powerpoint/2010/main" val="404941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9DE60-9249-33F1-D284-E50E0FA5F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30ED4-D07B-24AC-429C-1D1F51AC50C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72348F-E0A7-C83B-B32F-2DBC2B2DB15D}"/>
              </a:ext>
            </a:extLst>
          </p:cNvPr>
          <p:cNvSpPr>
            <a:spLocks noGrp="1"/>
          </p:cNvSpPr>
          <p:nvPr>
            <p:ph type="body" idx="1"/>
          </p:nvPr>
        </p:nvSpPr>
        <p:spPr/>
        <p:txBody>
          <a:bodyPr/>
          <a:lstStyle/>
          <a:p>
            <a:r>
              <a:rPr lang="en-US" b="0" dirty="0"/>
              <a:t>“After refining the prediction scope, the first major component I improved was the model architecture itself. The original </a:t>
            </a:r>
            <a:r>
              <a:rPr lang="en-US" b="0" dirty="0" err="1"/>
              <a:t>KernelOracle</a:t>
            </a:r>
            <a:r>
              <a:rPr lang="en-US" b="0" dirty="0"/>
              <a:t> implementation used two manually iterated </a:t>
            </a:r>
            <a:r>
              <a:rPr lang="en-US" b="0" dirty="0" err="1"/>
              <a:t>LSTMCell</a:t>
            </a:r>
            <a:r>
              <a:rPr lang="en-US" b="0" dirty="0"/>
              <a:t> layers. This design processed the sequence one time step at a time in Python, which is slow, inefficient, and does not take advantage of </a:t>
            </a:r>
            <a:r>
              <a:rPr lang="en-US" b="0" dirty="0" err="1"/>
              <a:t>PyTorch’s</a:t>
            </a:r>
            <a:r>
              <a:rPr lang="en-US" b="0" dirty="0"/>
              <a:t> optimized sequence operations. As a result, the model suffered from unstable hidden-state dynamics and poor long-horizon behavior.”</a:t>
            </a:r>
          </a:p>
          <a:p>
            <a:br>
              <a:rPr lang="en-US" b="0" dirty="0"/>
            </a:br>
            <a:endParaRPr lang="en-US" b="0" dirty="0"/>
          </a:p>
          <a:p>
            <a:r>
              <a:rPr lang="en-US" b="0" dirty="0"/>
              <a:t>“To address these issues, I replaced the entire </a:t>
            </a:r>
            <a:r>
              <a:rPr lang="en-US" b="0" dirty="0" err="1"/>
              <a:t>LSTMCell</a:t>
            </a:r>
            <a:r>
              <a:rPr lang="en-US" b="0" dirty="0"/>
              <a:t> loop with a batched \</a:t>
            </a:r>
            <a:r>
              <a:rPr lang="en-US" b="0" dirty="0" err="1"/>
              <a:t>texttt</a:t>
            </a:r>
            <a:r>
              <a:rPr lang="en-US" b="0" dirty="0"/>
              <a:t>{</a:t>
            </a:r>
            <a:r>
              <a:rPr lang="en-US" b="0" dirty="0" err="1"/>
              <a:t>nn.LSTM</a:t>
            </a:r>
            <a:r>
              <a:rPr lang="en-US" b="0" dirty="0"/>
              <a:t>} module. This allows the model to process the full input sequence in a single forward pass, leveraging efficient CUDA kernels and enabling true multi-layer sequence modeling. The new architecture also supports dropout, which provides better regularization and helps prevent overfitting.”</a:t>
            </a:r>
          </a:p>
          <a:p>
            <a:br>
              <a:rPr lang="en-US" b="0" dirty="0"/>
            </a:br>
            <a:endParaRPr lang="en-US" b="0" dirty="0"/>
          </a:p>
          <a:p>
            <a:r>
              <a:rPr lang="en-US" b="0" dirty="0"/>
              <a:t>“In practice, this architectural change alone improves training speed by roughly two to three times, while producing much more stable temporal representations. More importantly, it lays the foundation for coherent long-horizon prediction, because the recurrent states evolve more smoothly when handled by a batched LSTM rather than step-wise Python loops.”</a:t>
            </a:r>
          </a:p>
          <a:p>
            <a:br>
              <a:rPr lang="en-US" b="0" dirty="0"/>
            </a:br>
            <a:endParaRPr lang="en-US" b="0" dirty="0"/>
          </a:p>
          <a:p>
            <a:r>
              <a:rPr lang="en-US" b="0" dirty="0"/>
              <a:t>“Overall, this redesign transforms the model from a prototype-level implementation into a robust sequence predictor capable of learning meaningful scheduling patterns.”</a:t>
            </a:r>
          </a:p>
          <a:p>
            <a:endParaRPr lang="en-US" dirty="0"/>
          </a:p>
        </p:txBody>
      </p:sp>
      <p:sp>
        <p:nvSpPr>
          <p:cNvPr id="4" name="Slide Number Placeholder 3">
            <a:extLst>
              <a:ext uri="{FF2B5EF4-FFF2-40B4-BE49-F238E27FC236}">
                <a16:creationId xmlns:a16="http://schemas.microsoft.com/office/drawing/2014/main" id="{10805771-DB93-7EF1-8043-9BF29804EFEE}"/>
              </a:ext>
            </a:extLst>
          </p:cNvPr>
          <p:cNvSpPr>
            <a:spLocks noGrp="1"/>
          </p:cNvSpPr>
          <p:nvPr>
            <p:ph type="sldNum" sz="quarter" idx="5"/>
          </p:nvPr>
        </p:nvSpPr>
        <p:spPr/>
        <p:txBody>
          <a:bodyPr/>
          <a:lstStyle/>
          <a:p>
            <a:fld id="{5C487BEB-7D52-F246-96FB-EA8FE8423B39}" type="slidenum">
              <a:rPr lang="en-US" smtClean="0"/>
              <a:t>5</a:t>
            </a:fld>
            <a:endParaRPr lang="en-US"/>
          </a:p>
        </p:txBody>
      </p:sp>
    </p:spTree>
    <p:extLst>
      <p:ext uri="{BB962C8B-B14F-4D97-AF65-F5344CB8AC3E}">
        <p14:creationId xmlns:p14="http://schemas.microsoft.com/office/powerpoint/2010/main" val="1482895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05433-1FFC-6497-1F56-31F126880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91FA6B-3858-65FA-923D-E23228FD61D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3219B8-0B87-62B3-6E9E-B7DD0A84D3D9}"/>
              </a:ext>
            </a:extLst>
          </p:cNvPr>
          <p:cNvSpPr>
            <a:spLocks noGrp="1"/>
          </p:cNvSpPr>
          <p:nvPr>
            <p:ph type="body" idx="1"/>
          </p:nvPr>
        </p:nvSpPr>
        <p:spPr/>
        <p:txBody>
          <a:bodyPr/>
          <a:lstStyle/>
          <a:p>
            <a:r>
              <a:rPr lang="en-US" b="0" dirty="0"/>
              <a:t>“In addition to the architectural improvements, a major part of this work involves redesigning the training pipeline. The original system trained with LBFGS, used all data as training data, and had no validation steps or early stopping. This caused unstable convergence and made it impossible to track generalization performance.”</a:t>
            </a:r>
          </a:p>
          <a:p>
            <a:endParaRPr lang="en-US" b="0" dirty="0"/>
          </a:p>
          <a:p>
            <a:r>
              <a:rPr lang="en-US" b="0" dirty="0"/>
              <a:t>“On the redesigned side, as shown in the figure, I introduced a proper train–validation–test split and added a validation-driven early stopping mechanism. This ensures that the model stops training at the optimal point and prevents overfitting.”</a:t>
            </a:r>
            <a:br>
              <a:rPr lang="en-US" b="0" dirty="0"/>
            </a:br>
            <a:endParaRPr lang="en-US" b="0" dirty="0"/>
          </a:p>
          <a:p>
            <a:r>
              <a:rPr lang="en-US" b="0" dirty="0"/>
              <a:t>“I also replaced LBFGS with the Adam optimizer, which provides adaptive learning rates and much more stable gradient dynamics. Combined with the </a:t>
            </a:r>
            <a:r>
              <a:rPr lang="en-US" b="0" dirty="0" err="1"/>
              <a:t>ReduceLROnPlateau</a:t>
            </a:r>
            <a:r>
              <a:rPr lang="en-US" b="0" dirty="0"/>
              <a:t> scheduler, the training process automatically slows down the learning rate when validation improvement stalls. This makes convergence smoother and more predictable.”</a:t>
            </a:r>
          </a:p>
          <a:p>
            <a:endParaRPr lang="en-US" b="0" dirty="0"/>
          </a:p>
          <a:p>
            <a:r>
              <a:rPr lang="en-US" b="0" dirty="0"/>
              <a:t>“Together, these changes transform the pipeline from a rigid, fixed 15-epoch loop into a modern, feedback-driven training process that converges faster and produces more generalizable models.”</a:t>
            </a:r>
          </a:p>
          <a:p>
            <a:endParaRPr lang="en-US" dirty="0"/>
          </a:p>
        </p:txBody>
      </p:sp>
      <p:sp>
        <p:nvSpPr>
          <p:cNvPr id="4" name="Slide Number Placeholder 3">
            <a:extLst>
              <a:ext uri="{FF2B5EF4-FFF2-40B4-BE49-F238E27FC236}">
                <a16:creationId xmlns:a16="http://schemas.microsoft.com/office/drawing/2014/main" id="{4FD3D12E-7851-A293-628A-36AFED77D580}"/>
              </a:ext>
            </a:extLst>
          </p:cNvPr>
          <p:cNvSpPr>
            <a:spLocks noGrp="1"/>
          </p:cNvSpPr>
          <p:nvPr>
            <p:ph type="sldNum" sz="quarter" idx="5"/>
          </p:nvPr>
        </p:nvSpPr>
        <p:spPr/>
        <p:txBody>
          <a:bodyPr/>
          <a:lstStyle/>
          <a:p>
            <a:fld id="{5C487BEB-7D52-F246-96FB-EA8FE8423B39}" type="slidenum">
              <a:rPr lang="en-US" smtClean="0"/>
              <a:t>6</a:t>
            </a:fld>
            <a:endParaRPr lang="en-US"/>
          </a:p>
        </p:txBody>
      </p:sp>
    </p:spTree>
    <p:extLst>
      <p:ext uri="{BB962C8B-B14F-4D97-AF65-F5344CB8AC3E}">
        <p14:creationId xmlns:p14="http://schemas.microsoft.com/office/powerpoint/2010/main" val="3986302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807CE-B28E-7009-E1BE-851EA3701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EFB11-B420-2B93-E927-461E942F1D4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F6A63CB-26C8-2B04-2C70-EFD5F6810A11}"/>
              </a:ext>
            </a:extLst>
          </p:cNvPr>
          <p:cNvSpPr>
            <a:spLocks noGrp="1"/>
          </p:cNvSpPr>
          <p:nvPr>
            <p:ph type="body" idx="1"/>
          </p:nvPr>
        </p:nvSpPr>
        <p:spPr/>
        <p:txBody>
          <a:bodyPr/>
          <a:lstStyle/>
          <a:p>
            <a:r>
              <a:rPr lang="en-US" b="0" dirty="0"/>
              <a:t>“On this slide, I want to explain the engineering enhancements that make the improved </a:t>
            </a:r>
            <a:r>
              <a:rPr lang="en-US" b="0" dirty="0" err="1"/>
              <a:t>KernelOracle</a:t>
            </a:r>
            <a:r>
              <a:rPr lang="en-US" b="0" dirty="0"/>
              <a:t> system reproducible, maintainable, and much closer to a production-quality training pipeline. Let me start with the text on the slide.”</a:t>
            </a:r>
          </a:p>
          <a:p>
            <a:endParaRPr lang="en-US" b="0" dirty="0"/>
          </a:p>
          <a:p>
            <a:r>
              <a:rPr lang="en-US" b="0" dirty="0"/>
              <a:t>“The first improvement is the introduction of a centralized configuration file, </a:t>
            </a:r>
            <a:r>
              <a:rPr lang="en-US" sz="1200" b="0" kern="1200" dirty="0" err="1">
                <a:solidFill>
                  <a:schemeClr val="tx1"/>
                </a:solidFill>
                <a:latin typeface="+mn-lt"/>
                <a:ea typeface="+mn-ea"/>
                <a:cs typeface="+mn-cs"/>
              </a:rPr>
              <a:t>config.yaml</a:t>
            </a:r>
            <a:r>
              <a:rPr lang="en-US" b="0" dirty="0"/>
              <a:t>.</a:t>
            </a:r>
            <a:br>
              <a:rPr lang="en-US" b="0" dirty="0"/>
            </a:br>
            <a:r>
              <a:rPr lang="en-US" b="0" dirty="0"/>
              <a:t>Instead of scattering hyperparameters and settings across multiple Python files, everything—from model size to optimizer settings to data splits—is stored in one place. This ensures that experiments are fully reproducible and easy to re-run or modify.”</a:t>
            </a:r>
          </a:p>
          <a:p>
            <a:r>
              <a:rPr lang="en-US" b="0" dirty="0"/>
              <a:t>“Second, I reworked the logging system. The original code relied on simple print statements, which provide no structured information. Now we have a complete logging framework with timestamps and log levels, so every training event is recorded and can be traced later.”</a:t>
            </a:r>
          </a:p>
          <a:p>
            <a:r>
              <a:rPr lang="en-US" b="0" dirty="0"/>
              <a:t>“The third enhancement is automatic checkpointing. The system now saves the best-performing model along with the optimizer state and a full configuration snapshot. This allows us to resume training at any time and guarantees that the best model is preserved.”</a:t>
            </a:r>
          </a:p>
          <a:p>
            <a:r>
              <a:rPr lang="en-US" b="0" dirty="0"/>
              <a:t>“Finally, </a:t>
            </a:r>
            <a:r>
              <a:rPr lang="en-US" b="0" dirty="0" err="1"/>
              <a:t>TensorBoard</a:t>
            </a:r>
            <a:r>
              <a:rPr lang="en-US" b="0" dirty="0"/>
              <a:t> integration provides real-time visualization of training and validation curves, learning rate schedules, and other metrics. This makes it much easier to diagnose model behavior during training.”</a:t>
            </a:r>
          </a:p>
          <a:p>
            <a:endParaRPr lang="en-US" b="0" dirty="0"/>
          </a:p>
          <a:p>
            <a:r>
              <a:rPr lang="en-US" b="0" dirty="0"/>
              <a:t>“The diagram on the slide summarizes how these components interact.</a:t>
            </a:r>
            <a:br>
              <a:rPr lang="en-US" b="0" dirty="0"/>
            </a:br>
            <a:r>
              <a:rPr lang="en-US" b="0" dirty="0"/>
              <a:t>At the top, </a:t>
            </a:r>
            <a:r>
              <a:rPr lang="en-US" sz="1200" b="0" kern="1200" dirty="0" err="1">
                <a:solidFill>
                  <a:schemeClr val="tx1"/>
                </a:solidFill>
                <a:latin typeface="+mn-lt"/>
                <a:ea typeface="+mn-ea"/>
                <a:cs typeface="+mn-cs"/>
              </a:rPr>
              <a:t>config.yaml</a:t>
            </a:r>
            <a:r>
              <a:rPr lang="en-US" b="0" dirty="0"/>
              <a:t> feeds directly into the training process. This shows that configuration is now the single source of truth for the entire pipeline.”</a:t>
            </a:r>
          </a:p>
          <a:p>
            <a:r>
              <a:rPr lang="en-US" b="0" dirty="0"/>
              <a:t>“On the left, the Logging block indicates that training continuously emits structured logs as it runs. This component is independent but always active, providing a complete, chronological record of each run.”</a:t>
            </a:r>
          </a:p>
          <a:p>
            <a:r>
              <a:rPr lang="en-US" b="0" dirty="0"/>
              <a:t>“On the right, we have the Checkpointing module. The dashed outline shows that this is an enhancement layered onto the training process. Whenever the model reaches a new best validation score, this module automatically stores the model state, optimizer state, and configuration snapshot.”</a:t>
            </a:r>
          </a:p>
          <a:p>
            <a:r>
              <a:rPr lang="en-US" b="0" dirty="0"/>
              <a:t>“At the bottom is </a:t>
            </a:r>
            <a:r>
              <a:rPr lang="en-US" b="0" dirty="0" err="1"/>
              <a:t>TensorBoard</a:t>
            </a:r>
            <a:r>
              <a:rPr lang="en-US" b="0" dirty="0"/>
              <a:t>, which receives summary data directly from the training loop. This enables us to visually monitor the model’s progress in real time and immediately catch issues such as divergence or plateauing.”</a:t>
            </a:r>
          </a:p>
          <a:p>
            <a:endParaRPr lang="en-US" b="0" dirty="0"/>
          </a:p>
          <a:p>
            <a:r>
              <a:rPr lang="en-US" b="0" dirty="0"/>
              <a:t>“Together, these engineering improvements turn </a:t>
            </a:r>
            <a:r>
              <a:rPr lang="en-US" b="0" dirty="0" err="1"/>
              <a:t>KernelOracle</a:t>
            </a:r>
            <a:r>
              <a:rPr lang="en-US" b="0" dirty="0"/>
              <a:t> into a fully reproducible and analyzable system, rather than a one-off prototype. This is crucial for evaluating long-horizon prediction models and conducting meaningful system research.”</a:t>
            </a:r>
          </a:p>
        </p:txBody>
      </p:sp>
      <p:sp>
        <p:nvSpPr>
          <p:cNvPr id="4" name="Slide Number Placeholder 3">
            <a:extLst>
              <a:ext uri="{FF2B5EF4-FFF2-40B4-BE49-F238E27FC236}">
                <a16:creationId xmlns:a16="http://schemas.microsoft.com/office/drawing/2014/main" id="{28AEC419-C82F-2404-285B-96621FC44D45}"/>
              </a:ext>
            </a:extLst>
          </p:cNvPr>
          <p:cNvSpPr>
            <a:spLocks noGrp="1"/>
          </p:cNvSpPr>
          <p:nvPr>
            <p:ph type="sldNum" sz="quarter" idx="5"/>
          </p:nvPr>
        </p:nvSpPr>
        <p:spPr/>
        <p:txBody>
          <a:bodyPr/>
          <a:lstStyle/>
          <a:p>
            <a:fld id="{5C487BEB-7D52-F246-96FB-EA8FE8423B39}" type="slidenum">
              <a:rPr lang="en-US" smtClean="0"/>
              <a:t>7</a:t>
            </a:fld>
            <a:endParaRPr lang="en-US"/>
          </a:p>
        </p:txBody>
      </p:sp>
    </p:spTree>
    <p:extLst>
      <p:ext uri="{BB962C8B-B14F-4D97-AF65-F5344CB8AC3E}">
        <p14:creationId xmlns:p14="http://schemas.microsoft.com/office/powerpoint/2010/main" val="4242852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02021-ABAE-D6DA-5814-B903B0732F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BA9921-D24F-DA1C-8AF0-894A2E9130C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9A0D88F-62A9-5D10-3CB2-58D4E32CE134}"/>
              </a:ext>
            </a:extLst>
          </p:cNvPr>
          <p:cNvSpPr>
            <a:spLocks noGrp="1"/>
          </p:cNvSpPr>
          <p:nvPr>
            <p:ph type="body" idx="1"/>
          </p:nvPr>
        </p:nvSpPr>
        <p:spPr/>
        <p:txBody>
          <a:bodyPr/>
          <a:lstStyle/>
          <a:p>
            <a:r>
              <a:rPr lang="en-US" b="1" dirty="0"/>
              <a:t>X-axis:</a:t>
            </a:r>
            <a:r>
              <a:rPr lang="en-US" dirty="0"/>
              <a:t> Time steps (observed sequence + 1000-step autoregressive forecast)</a:t>
            </a:r>
          </a:p>
          <a:p>
            <a:r>
              <a:rPr lang="en-US" b="1" dirty="0"/>
              <a:t>Y-axis:</a:t>
            </a:r>
            <a:r>
              <a:rPr lang="en-US" dirty="0"/>
              <a:t> Normalized inter-event time (</a:t>
            </a:r>
            <a:r>
              <a:rPr lang="en-US" dirty="0" err="1"/>
              <a:t>Δt</a:t>
            </a:r>
            <a:r>
              <a:rPr lang="en-US" dirty="0"/>
              <a:t>) between scheduling events</a:t>
            </a:r>
          </a:p>
          <a:p>
            <a:r>
              <a:rPr lang="en-US" dirty="0"/>
              <a:t>	Value after </a:t>
            </a:r>
            <a:r>
              <a:rPr lang="en-US" i="1" dirty="0"/>
              <a:t>min–max normalization</a:t>
            </a:r>
            <a:endParaRPr lang="en-US" dirty="0"/>
          </a:p>
          <a:p>
            <a:r>
              <a:rPr lang="en-US" dirty="0"/>
              <a:t>	Range roughly 0.0 ~ 1.2 reflects original preprocessing scale</a:t>
            </a:r>
          </a:p>
          <a:p>
            <a:r>
              <a:rPr lang="en-US" b="0" dirty="0"/>
              <a:t>“This plot shows the epoch-14 prediction from the original </a:t>
            </a:r>
            <a:r>
              <a:rPr lang="en-US" b="0" dirty="0" err="1"/>
              <a:t>KernelOracle</a:t>
            </a:r>
            <a:r>
              <a:rPr lang="en-US" b="0" dirty="0"/>
              <a:t> system.</a:t>
            </a:r>
            <a:br>
              <a:rPr lang="en-US" b="0" dirty="0"/>
            </a:br>
            <a:r>
              <a:rPr lang="en-US" b="0" dirty="0"/>
              <a:t>The X-axis represents time steps, including both the observed part of the sequence and the future 1000-step autoregressive prediction. The Y-axis represents the normalized inter-event time, which is the time difference between consecutive scheduling events after min–max scaling.”</a:t>
            </a:r>
          </a:p>
          <a:p>
            <a:r>
              <a:rPr lang="en-US" b="0" dirty="0"/>
              <a:t>“We can clearly observe that in the future prediction region—shown by the dotted lines—the model becomes unstable. The predicted curve exhibits large oscillations, rapidly changing amplitude, and noise-like behavior. These do not correspond to meaningful scheduling dynamics; they are artifacts caused by the step-wise </a:t>
            </a:r>
            <a:r>
              <a:rPr lang="en-US" b="0" dirty="0" err="1"/>
              <a:t>LSTMCell</a:t>
            </a:r>
            <a:r>
              <a:rPr lang="en-US" b="0" dirty="0"/>
              <a:t> implementation, the lack of validation feedback, and the instability of the LBFGS optimizer.”</a:t>
            </a:r>
          </a:p>
          <a:p>
            <a:r>
              <a:rPr lang="en-US" b="0" dirty="0"/>
              <a:t>“This plot illustrates the core problem: the baseline model cannot maintain coherent long-horizon prediction and tends to diverge into noise.”</a:t>
            </a:r>
          </a:p>
          <a:p>
            <a:endParaRPr lang="en-US" dirty="0"/>
          </a:p>
        </p:txBody>
      </p:sp>
      <p:sp>
        <p:nvSpPr>
          <p:cNvPr id="4" name="Slide Number Placeholder 3">
            <a:extLst>
              <a:ext uri="{FF2B5EF4-FFF2-40B4-BE49-F238E27FC236}">
                <a16:creationId xmlns:a16="http://schemas.microsoft.com/office/drawing/2014/main" id="{887BF2CB-5A3E-274B-D26B-9CDA9130A4A1}"/>
              </a:ext>
            </a:extLst>
          </p:cNvPr>
          <p:cNvSpPr>
            <a:spLocks noGrp="1"/>
          </p:cNvSpPr>
          <p:nvPr>
            <p:ph type="sldNum" sz="quarter" idx="5"/>
          </p:nvPr>
        </p:nvSpPr>
        <p:spPr/>
        <p:txBody>
          <a:bodyPr/>
          <a:lstStyle/>
          <a:p>
            <a:fld id="{5C487BEB-7D52-F246-96FB-EA8FE8423B39}" type="slidenum">
              <a:rPr lang="en-US" smtClean="0"/>
              <a:t>8</a:t>
            </a:fld>
            <a:endParaRPr lang="en-US"/>
          </a:p>
        </p:txBody>
      </p:sp>
    </p:spTree>
    <p:extLst>
      <p:ext uri="{BB962C8B-B14F-4D97-AF65-F5344CB8AC3E}">
        <p14:creationId xmlns:p14="http://schemas.microsoft.com/office/powerpoint/2010/main" val="700702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69E0-64FE-0F73-239F-59E716E73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7E820A-18BE-A79C-B6AB-E05A97AAC92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7EBAA17-832B-92A2-E4D4-58B84B041912}"/>
              </a:ext>
            </a:extLst>
          </p:cNvPr>
          <p:cNvSpPr>
            <a:spLocks noGrp="1"/>
          </p:cNvSpPr>
          <p:nvPr>
            <p:ph type="body" idx="1"/>
          </p:nvPr>
        </p:nvSpPr>
        <p:spPr/>
        <p:txBody>
          <a:bodyPr/>
          <a:lstStyle/>
          <a:p>
            <a:r>
              <a:rPr lang="en-US" b="1" dirty="0"/>
              <a:t>X-axis:</a:t>
            </a:r>
            <a:r>
              <a:rPr lang="en-US" dirty="0"/>
              <a:t> Time steps (observed data + 1000-step future forecast)</a:t>
            </a:r>
          </a:p>
          <a:p>
            <a:r>
              <a:rPr lang="en-US" b="1" dirty="0"/>
              <a:t>Y-axis:</a:t>
            </a:r>
            <a:r>
              <a:rPr lang="en-US" dirty="0"/>
              <a:t> Normalized inter-event time (</a:t>
            </a:r>
            <a:r>
              <a:rPr lang="en-US" dirty="0" err="1"/>
              <a:t>Δt</a:t>
            </a:r>
            <a:r>
              <a:rPr lang="en-US" dirty="0"/>
              <a:t>)</a:t>
            </a:r>
          </a:p>
          <a:p>
            <a:r>
              <a:rPr lang="en-US" dirty="0"/>
              <a:t>	After </a:t>
            </a:r>
            <a:r>
              <a:rPr lang="en-US" i="1" dirty="0"/>
              <a:t>standardization</a:t>
            </a:r>
            <a:r>
              <a:rPr lang="en-US" dirty="0"/>
              <a:t> (mean≈0, std≈1)</a:t>
            </a:r>
          </a:p>
          <a:p>
            <a:r>
              <a:rPr lang="en-US" dirty="0"/>
              <a:t>	Range ≈ –0.1 ~ 0.1 naturally smaller</a:t>
            </a:r>
          </a:p>
          <a:p>
            <a:r>
              <a:rPr lang="en-US" dirty="0"/>
              <a:t>“Now this is the prediction produced by the enhanced system.</a:t>
            </a:r>
            <a:br>
              <a:rPr lang="en-US" dirty="0"/>
            </a:br>
            <a:r>
              <a:rPr lang="en-US" dirty="0"/>
              <a:t>The X-axis again represents the sequence index with a 1000-step autoregressive forecast, and the Y-axis represents the normalized inter-event time. In the improved pipeline, the normalization is based on standardization, so the numerical range is centered near zero and naturally appears more compact.”</a:t>
            </a:r>
          </a:p>
          <a:p>
            <a:r>
              <a:rPr lang="en-US" b="0" dirty="0"/>
              <a:t>“What is important is not the range but the behavior.</a:t>
            </a:r>
            <a:br>
              <a:rPr lang="en-US" b="0" dirty="0"/>
            </a:br>
            <a:r>
              <a:rPr lang="en-US" b="0" dirty="0"/>
              <a:t>Unlike the baseline result, the enhanced model maintains a smooth, stable, and coherent prediction throughout the entire future region. There are no large oscillations, no divergence, and no noise bursts. The temporal pattern stays internally consistent.”</a:t>
            </a:r>
          </a:p>
          <a:p>
            <a:r>
              <a:rPr lang="en-US" b="0" dirty="0"/>
              <a:t>“This improvement directly reflects the redesigned architecture and training pipeline:</a:t>
            </a:r>
          </a:p>
          <a:p>
            <a:r>
              <a:rPr lang="en-US" b="0" dirty="0"/>
              <a:t>batched </a:t>
            </a:r>
            <a:r>
              <a:rPr lang="en-US" sz="1200" b="0" kern="1200" dirty="0" err="1">
                <a:solidFill>
                  <a:schemeClr val="tx1"/>
                </a:solidFill>
                <a:latin typeface="+mn-lt"/>
                <a:ea typeface="+mn-ea"/>
                <a:cs typeface="+mn-cs"/>
              </a:rPr>
              <a:t>nn.LSTM</a:t>
            </a:r>
            <a:r>
              <a:rPr lang="en-US" b="0" dirty="0"/>
              <a:t> stabilizes hidden-state propagation</a:t>
            </a:r>
          </a:p>
          <a:p>
            <a:r>
              <a:rPr lang="en-US" b="0" dirty="0"/>
              <a:t>Adam optimizer provides smoother gradient updates</a:t>
            </a:r>
          </a:p>
          <a:p>
            <a:r>
              <a:rPr lang="en-US" b="0" dirty="0"/>
              <a:t>learning rate scheduling avoids overshooting</a:t>
            </a:r>
          </a:p>
          <a:p>
            <a:r>
              <a:rPr lang="en-US" b="0" dirty="0"/>
              <a:t>validation + early stopping ensure proper convergence**</a:t>
            </a:r>
          </a:p>
          <a:p>
            <a:r>
              <a:rPr lang="en-US" b="0" dirty="0"/>
              <a:t>Together, these changes produce a model that can sustain reliable long-horizon autoregressive prediction—something the original design was unable to achieve.”</a:t>
            </a:r>
          </a:p>
          <a:p>
            <a:endParaRPr lang="en-US" dirty="0"/>
          </a:p>
        </p:txBody>
      </p:sp>
      <p:sp>
        <p:nvSpPr>
          <p:cNvPr id="4" name="Slide Number Placeholder 3">
            <a:extLst>
              <a:ext uri="{FF2B5EF4-FFF2-40B4-BE49-F238E27FC236}">
                <a16:creationId xmlns:a16="http://schemas.microsoft.com/office/drawing/2014/main" id="{3D848572-1BAB-BE4C-2E8B-4CA1351D460B}"/>
              </a:ext>
            </a:extLst>
          </p:cNvPr>
          <p:cNvSpPr>
            <a:spLocks noGrp="1"/>
          </p:cNvSpPr>
          <p:nvPr>
            <p:ph type="sldNum" sz="quarter" idx="5"/>
          </p:nvPr>
        </p:nvSpPr>
        <p:spPr/>
        <p:txBody>
          <a:bodyPr/>
          <a:lstStyle/>
          <a:p>
            <a:fld id="{5C487BEB-7D52-F246-96FB-EA8FE8423B39}" type="slidenum">
              <a:rPr lang="en-US" smtClean="0"/>
              <a:t>9</a:t>
            </a:fld>
            <a:endParaRPr lang="en-US"/>
          </a:p>
        </p:txBody>
      </p:sp>
    </p:spTree>
    <p:extLst>
      <p:ext uri="{BB962C8B-B14F-4D97-AF65-F5344CB8AC3E}">
        <p14:creationId xmlns:p14="http://schemas.microsoft.com/office/powerpoint/2010/main" val="283552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005E9-BBC0-3015-D0DA-A27CC9095E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F885EA-2F68-DFF1-E890-6F3DDA98EA5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D8A667-FEF6-FB54-7C36-CB83C000F072}"/>
              </a:ext>
            </a:extLst>
          </p:cNvPr>
          <p:cNvSpPr>
            <a:spLocks noGrp="1"/>
          </p:cNvSpPr>
          <p:nvPr>
            <p:ph type="body" idx="1"/>
          </p:nvPr>
        </p:nvSpPr>
        <p:spPr/>
        <p:txBody>
          <a:bodyPr/>
          <a:lstStyle/>
          <a:p>
            <a:r>
              <a:rPr lang="en-US" b="0" dirty="0"/>
              <a:t>“This slide summarizes the overall performance improvements achieved through the redesign of the </a:t>
            </a:r>
            <a:r>
              <a:rPr lang="en-US" b="0" dirty="0" err="1"/>
              <a:t>KernelOracle</a:t>
            </a:r>
            <a:r>
              <a:rPr lang="en-US" b="0" dirty="0"/>
              <a:t> system. The first major improvement is training efficiency. By replacing the step-wise </a:t>
            </a:r>
            <a:r>
              <a:rPr lang="en-US" b="0" dirty="0" err="1"/>
              <a:t>LSTMCell</a:t>
            </a:r>
            <a:r>
              <a:rPr lang="en-US" b="0" dirty="0"/>
              <a:t> loop with a batched LSTM and switching from LBFGS to the Adam optimizer, each epoch now trains two to three times faster while maintaining much more stable gradient behavior.”</a:t>
            </a:r>
          </a:p>
          <a:p>
            <a:endParaRPr lang="en-US" b="0" dirty="0"/>
          </a:p>
          <a:p>
            <a:r>
              <a:rPr lang="en-US" b="0" dirty="0"/>
              <a:t>“In terms of prediction quality, the enhanced model produces significantly more stable long-horizon forecasts. As we saw in the previous two slides, the original implementation diverged quickly into oscillations and noise, whereas the improved model maintains a smooth and coherent sequence over the entire 1000-step autoregressive window. This indicates that the model has learned a more reliable temporal representation.”</a:t>
            </a:r>
            <a:br>
              <a:rPr lang="en-US" b="0" dirty="0"/>
            </a:br>
            <a:endParaRPr lang="en-US" b="0" dirty="0"/>
          </a:p>
          <a:p>
            <a:r>
              <a:rPr lang="en-US" b="0" dirty="0"/>
              <a:t>“Convergence control has also improved. Using validation-driven early stopping and adaptive learning rate scheduling, the training process now stops automatically at the optimal point. This prevents both overfitting and unnecessary training time, and ensures that the best-performing model is always captured.”</a:t>
            </a:r>
          </a:p>
          <a:p>
            <a:endParaRPr lang="en-US" b="0" dirty="0"/>
          </a:p>
          <a:p>
            <a:r>
              <a:rPr lang="en-US" b="0" dirty="0"/>
              <a:t>“Finally, from an engineering standpoint, the system is now fully reproducible. With centralized configuration, structured logging, automatic checkpointing, and </a:t>
            </a:r>
            <a:r>
              <a:rPr lang="en-US" b="0" dirty="0" err="1"/>
              <a:t>TensorBoard</a:t>
            </a:r>
            <a:r>
              <a:rPr lang="en-US" b="0" dirty="0"/>
              <a:t> integration, every experiment can be repeated, analyzed, and monitored in a controlled way. This level of reproducibility is essential for meaningful system research and for comparing different model designs fairly.”</a:t>
            </a:r>
          </a:p>
          <a:p>
            <a:endParaRPr lang="en-US" b="0" dirty="0"/>
          </a:p>
          <a:p>
            <a:r>
              <a:rPr lang="en-US" b="0" dirty="0"/>
              <a:t>“Taken together, these improvements demonstrate that the enhanced system is not only faster and more accurate but also substantially more reliable and practical for real-world use.”</a:t>
            </a:r>
          </a:p>
          <a:p>
            <a:endParaRPr lang="en-US" dirty="0"/>
          </a:p>
        </p:txBody>
      </p:sp>
      <p:sp>
        <p:nvSpPr>
          <p:cNvPr id="4" name="Slide Number Placeholder 3">
            <a:extLst>
              <a:ext uri="{FF2B5EF4-FFF2-40B4-BE49-F238E27FC236}">
                <a16:creationId xmlns:a16="http://schemas.microsoft.com/office/drawing/2014/main" id="{6F1AF2F9-6492-9B3A-59F1-089AAC41C706}"/>
              </a:ext>
            </a:extLst>
          </p:cNvPr>
          <p:cNvSpPr>
            <a:spLocks noGrp="1"/>
          </p:cNvSpPr>
          <p:nvPr>
            <p:ph type="sldNum" sz="quarter" idx="5"/>
          </p:nvPr>
        </p:nvSpPr>
        <p:spPr/>
        <p:txBody>
          <a:bodyPr/>
          <a:lstStyle/>
          <a:p>
            <a:fld id="{5C487BEB-7D52-F246-96FB-EA8FE8423B39}" type="slidenum">
              <a:rPr lang="en-US" smtClean="0"/>
              <a:t>10</a:t>
            </a:fld>
            <a:endParaRPr lang="en-US"/>
          </a:p>
        </p:txBody>
      </p:sp>
    </p:spTree>
    <p:extLst>
      <p:ext uri="{BB962C8B-B14F-4D97-AF65-F5344CB8AC3E}">
        <p14:creationId xmlns:p14="http://schemas.microsoft.com/office/powerpoint/2010/main" val="3200126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7EC4E-C853-7DCB-6E04-1E7C61649C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66FCD8-F0C2-A746-7AFE-82D6ED2F4A6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491F0AC-240A-CBE3-1231-AD6CD7522468}"/>
              </a:ext>
            </a:extLst>
          </p:cNvPr>
          <p:cNvSpPr>
            <a:spLocks noGrp="1"/>
          </p:cNvSpPr>
          <p:nvPr>
            <p:ph type="body" idx="1"/>
          </p:nvPr>
        </p:nvSpPr>
        <p:spPr/>
        <p:txBody>
          <a:bodyPr/>
          <a:lstStyle/>
          <a:p>
            <a:r>
              <a:rPr lang="en-US" b="0" dirty="0"/>
              <a:t>“To conclude, this project significantly improves the original </a:t>
            </a:r>
            <a:r>
              <a:rPr lang="en-US" b="0" dirty="0" err="1"/>
              <a:t>KernelOracle</a:t>
            </a:r>
            <a:r>
              <a:rPr lang="en-US" b="0" dirty="0"/>
              <a:t> framework across multiple </a:t>
            </a:r>
            <a:r>
              <a:rPr lang="en-US" b="0" dirty="0" err="1"/>
              <a:t>dimensions.At</a:t>
            </a:r>
            <a:r>
              <a:rPr lang="en-US" b="0" dirty="0"/>
              <a:t> the architectural level, replacing the step-wise </a:t>
            </a:r>
            <a:r>
              <a:rPr lang="en-US" b="0" dirty="0" err="1"/>
              <a:t>LSTMCell</a:t>
            </a:r>
            <a:r>
              <a:rPr lang="en-US" b="0" dirty="0"/>
              <a:t> loop with a batched LSTM provides stronger temporal modeling and much greater stability, especially during long-horizon forecasting. This eliminates the oscillations and noise that we observed in the baseline </a:t>
            </a:r>
            <a:r>
              <a:rPr lang="en-US" b="0" dirty="0" err="1"/>
              <a:t>system.”“In</a:t>
            </a:r>
            <a:r>
              <a:rPr lang="en-US" b="0" dirty="0"/>
              <a:t> terms of training methodology, the introduction of the Adam optimizer, adaptive learning rate scheduling, proper train–validation–test splits, and early stopping ensures controlled, predictable convergence. These tools transform the training process from a fixed, rigid loop into a feedback-driven pipeline that reliably finds the best-performing </a:t>
            </a:r>
            <a:r>
              <a:rPr lang="en-US" b="0" dirty="0" err="1"/>
              <a:t>model.”“On</a:t>
            </a:r>
            <a:r>
              <a:rPr lang="en-US" b="0" dirty="0"/>
              <a:t> the engineering side, elements such as configuration files, structured logging, automatic checkpointing, and </a:t>
            </a:r>
            <a:r>
              <a:rPr lang="en-US" b="0" dirty="0" err="1"/>
              <a:t>TensorBoard</a:t>
            </a:r>
            <a:r>
              <a:rPr lang="en-US" b="0" dirty="0"/>
              <a:t> monitoring bring a high level of reproducibility and transparency. Every experiment is now traceable, repeatable, and easy to analyze—something the original implementation could not </a:t>
            </a:r>
            <a:r>
              <a:rPr lang="en-US" b="0" dirty="0" err="1"/>
              <a:t>achieve.”“An</a:t>
            </a:r>
            <a:r>
              <a:rPr lang="en-US" b="0" dirty="0"/>
              <a:t> important conceptual change is the refinement of the prediction scope. Instead of assuming that all Linux systems are predictable—which is often unrealistic—the enhanced framework focuses on cloud and server environments where workloads follow regular patterns. This makes the prediction task both feasible and practically </a:t>
            </a:r>
            <a:r>
              <a:rPr lang="en-US" b="0" dirty="0" err="1"/>
              <a:t>valuable.”“Overall</a:t>
            </a:r>
            <a:r>
              <a:rPr lang="en-US" b="0" dirty="0"/>
              <a:t>, the enhanced </a:t>
            </a:r>
            <a:r>
              <a:rPr lang="en-US" b="0" dirty="0" err="1"/>
              <a:t>KernelOracle</a:t>
            </a:r>
            <a:r>
              <a:rPr lang="en-US" b="0" dirty="0"/>
              <a:t> system evolves from a research prototype into a robust, stable, and reproducible predictive platform. </a:t>
            </a:r>
            <a:r>
              <a:rPr lang="en-US" b="0"/>
              <a:t>It is better suited for real-world analysis of scheduler dynamics and provides a solid foundation for future extensions.”</a:t>
            </a:r>
            <a:endParaRPr lang="en-US" dirty="0"/>
          </a:p>
        </p:txBody>
      </p:sp>
      <p:sp>
        <p:nvSpPr>
          <p:cNvPr id="4" name="Slide Number Placeholder 3">
            <a:extLst>
              <a:ext uri="{FF2B5EF4-FFF2-40B4-BE49-F238E27FC236}">
                <a16:creationId xmlns:a16="http://schemas.microsoft.com/office/drawing/2014/main" id="{E805C6A9-9274-5FEF-5BB2-4B96C77DBCE2}"/>
              </a:ext>
            </a:extLst>
          </p:cNvPr>
          <p:cNvSpPr>
            <a:spLocks noGrp="1"/>
          </p:cNvSpPr>
          <p:nvPr>
            <p:ph type="sldNum" sz="quarter" idx="5"/>
          </p:nvPr>
        </p:nvSpPr>
        <p:spPr/>
        <p:txBody>
          <a:bodyPr/>
          <a:lstStyle/>
          <a:p>
            <a:fld id="{5C487BEB-7D52-F246-96FB-EA8FE8423B39}" type="slidenum">
              <a:rPr lang="en-US" smtClean="0"/>
              <a:t>11</a:t>
            </a:fld>
            <a:endParaRPr lang="en-US"/>
          </a:p>
        </p:txBody>
      </p:sp>
    </p:spTree>
    <p:extLst>
      <p:ext uri="{BB962C8B-B14F-4D97-AF65-F5344CB8AC3E}">
        <p14:creationId xmlns:p14="http://schemas.microsoft.com/office/powerpoint/2010/main" val="4367893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ACDB3CC-F982-40F9-8DD6-BCC9AFBF44BD}" type="datetime1">
              <a:rPr lang="en-US" smtClean="0"/>
              <a:t>11/15/2025</a:t>
            </a:fld>
            <a:endParaRPr lang="en-US" dirty="0"/>
          </a:p>
        </p:txBody>
      </p:sp>
      <p:sp>
        <p:nvSpPr>
          <p:cNvPr id="5" name="Footer Placeholder 4"/>
          <p:cNvSpPr>
            <a:spLocks noGrp="1"/>
          </p:cNvSpPr>
          <p:nvPr>
            <p:ph type="ftr" sz="quarter" idx="11"/>
          </p:nvPr>
        </p:nvSpPr>
        <p:spPr>
          <a:xfrm>
            <a:off x="3124200" y="6356351"/>
            <a:ext cx="2895600" cy="365125"/>
          </a:xfrm>
          <a:prstGeom prst="rect">
            <a:avLst/>
          </a:prstGeom>
        </p:spPr>
        <p:txBody>
          <a:bodyPr/>
          <a:lstStyle/>
          <a:p>
            <a:endParaRPr lang="en-US" dirty="0"/>
          </a:p>
        </p:txBody>
      </p:sp>
      <p:pic>
        <p:nvPicPr>
          <p:cNvPr id="10" name="Picture 9" descr="A close up of a logo&#10;&#10;Description automatically generated"/>
          <p:cNvPicPr>
            <a:picLocks noChangeAspect="1"/>
          </p:cNvPicPr>
          <p:nvPr userDrawn="1"/>
        </p:nvPicPr>
        <p:blipFill>
          <a:blip r:embed="rId3"/>
          <a:stretch>
            <a:fillRect/>
          </a:stretch>
        </p:blipFill>
        <p:spPr>
          <a:xfrm>
            <a:off x="6553200" y="5583827"/>
            <a:ext cx="2245360" cy="1137649"/>
          </a:xfrm>
          <a:prstGeom prst="rect">
            <a:avLst/>
          </a:prstGeom>
        </p:spPr>
      </p:pic>
      <p:sp>
        <p:nvSpPr>
          <p:cNvPr id="6" name="Slide Number Placeholder 5"/>
          <p:cNvSpPr>
            <a:spLocks noGrp="1"/>
          </p:cNvSpPr>
          <p:nvPr>
            <p:ph type="sldNum" sz="quarter" idx="12"/>
          </p:nvPr>
        </p:nvSpPr>
        <p:spPr/>
        <p:txBody>
          <a:bodyPr/>
          <a:lstStyle/>
          <a:p>
            <a:fld id="{AF88E988-FB04-AB4E-BE5A-59F242AF7F7A}"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Heading </a:t>
            </a:r>
          </a:p>
        </p:txBody>
      </p:sp>
      <p:sp>
        <p:nvSpPr>
          <p:cNvPr id="3" name="Content Placeholder 2"/>
          <p:cNvSpPr>
            <a:spLocks noGrp="1"/>
          </p:cNvSpPr>
          <p:nvPr>
            <p:ph idx="1"/>
          </p:nvPr>
        </p:nvSpPr>
        <p:spPr/>
        <p:txBody>
          <a:bodyPr>
            <a:normAutofit/>
          </a:bodyPr>
          <a:lstStyle>
            <a:lvl1pPr>
              <a:defRPr sz="1800"/>
            </a:lvl1pPr>
            <a:lvl2pPr>
              <a:defRPr sz="1800"/>
            </a:lvl2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C30CA21-89C5-A040-B01E-D208A7FA3D8D}"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7697F5-3DCA-0A4F-B9EA-FEC2794BD1A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Heading</a:t>
            </a:r>
          </a:p>
        </p:txBody>
      </p:sp>
      <p:sp>
        <p:nvSpPr>
          <p:cNvPr id="3" name="Content Placeholder 2"/>
          <p:cNvSpPr>
            <a:spLocks noGrp="1"/>
          </p:cNvSpPr>
          <p:nvPr>
            <p:ph sz="half" idx="1"/>
          </p:nvPr>
        </p:nvSpPr>
        <p:spPr>
          <a:xfrm>
            <a:off x="457200" y="1659037"/>
            <a:ext cx="4038600" cy="4525433"/>
          </a:xfrm>
        </p:spPr>
        <p:txBody>
          <a:bodyPr>
            <a:normAutofit/>
          </a:bodyPr>
          <a:lstStyle>
            <a:lvl1pPr>
              <a:defRPr sz="2000">
                <a:latin typeface="Arial" panose="020B0604020202020204"/>
                <a:cs typeface="Arial" panose="020B0604020202020204"/>
              </a:defRPr>
            </a:lvl1pPr>
            <a:lvl2pPr>
              <a:defRPr sz="2000">
                <a:latin typeface="Arial" panose="020B0604020202020204"/>
                <a:cs typeface="Arial" panose="020B0604020202020204"/>
              </a:defRPr>
            </a:lvl2pPr>
            <a:lvl3pPr>
              <a:defRPr sz="2000">
                <a:latin typeface="Arial" panose="020B0604020202020204"/>
                <a:cs typeface="Arial" panose="020B0604020202020204"/>
              </a:defRPr>
            </a:lvl3pPr>
            <a:lvl4pPr>
              <a:defRPr sz="2000">
                <a:latin typeface="Arial" panose="020B0604020202020204"/>
                <a:cs typeface="Arial" panose="020B0604020202020204"/>
              </a:defRPr>
            </a:lvl4pPr>
            <a:lvl5pPr>
              <a:defRPr sz="2000">
                <a:latin typeface="Arial" panose="020B0604020202020204"/>
                <a:cs typeface="Arial" panose="020B0604020202020204"/>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59037"/>
            <a:ext cx="4038600" cy="4525433"/>
          </a:xfrm>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en-US" dirty="0"/>
          </a:p>
        </p:txBody>
      </p:sp>
      <p:sp>
        <p:nvSpPr>
          <p:cNvPr id="5" name="Date Placeholder 4"/>
          <p:cNvSpPr>
            <a:spLocks noGrp="1"/>
          </p:cNvSpPr>
          <p:nvPr>
            <p:ph type="dt" sz="half" idx="10"/>
          </p:nvPr>
        </p:nvSpPr>
        <p:spPr/>
        <p:txBody>
          <a:bodyPr/>
          <a:lstStyle/>
          <a:p>
            <a:fld id="{3C30CA21-89C5-A040-B01E-D208A7FA3D8D}"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7697F5-3DCA-0A4F-B9EA-FEC2794BD1A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Heading</a:t>
            </a:r>
          </a:p>
        </p:txBody>
      </p:sp>
      <p:sp>
        <p:nvSpPr>
          <p:cNvPr id="3" name="Text Placeholder 2"/>
          <p:cNvSpPr>
            <a:spLocks noGrp="1"/>
          </p:cNvSpPr>
          <p:nvPr>
            <p:ph type="body" idx="1" hasCustomPrompt="1"/>
          </p:nvPr>
        </p:nvSpPr>
        <p:spPr>
          <a:xfrm>
            <a:off x="457200" y="1534584"/>
            <a:ext cx="4040188" cy="641349"/>
          </a:xfrm>
        </p:spPr>
        <p:txBody>
          <a:bodyPr anchor="b"/>
          <a:lstStyle>
            <a:lvl1pPr marL="0" indent="0">
              <a:buNone/>
              <a:defRPr sz="2400" b="1">
                <a:latin typeface="Arial" panose="020B0604020202020204"/>
                <a:cs typeface="Arial" panose="020B0604020202020204"/>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Subheading</a:t>
            </a:r>
          </a:p>
        </p:txBody>
      </p:sp>
      <p:sp>
        <p:nvSpPr>
          <p:cNvPr id="4" name="Content Placeholder 3"/>
          <p:cNvSpPr>
            <a:spLocks noGrp="1"/>
          </p:cNvSpPr>
          <p:nvPr>
            <p:ph sz="half" idx="2"/>
          </p:nvPr>
        </p:nvSpPr>
        <p:spPr>
          <a:xfrm>
            <a:off x="457200" y="2175934"/>
            <a:ext cx="4040188" cy="3949700"/>
          </a:xfrm>
        </p:spPr>
        <p:txBody>
          <a:bodyPr>
            <a:normAutofit/>
          </a:bodyPr>
          <a:lstStyle>
            <a:lvl1pPr>
              <a:defRPr sz="1800">
                <a:latin typeface="Arial" panose="020B0604020202020204"/>
                <a:cs typeface="Arial" panose="020B0604020202020204"/>
              </a:defRPr>
            </a:lvl1pPr>
            <a:lvl2pPr>
              <a:defRPr sz="1800">
                <a:latin typeface="Arial" panose="020B0604020202020204"/>
                <a:cs typeface="Arial" panose="020B0604020202020204"/>
              </a:defRPr>
            </a:lvl2pPr>
            <a:lvl3pPr>
              <a:defRPr sz="1800">
                <a:latin typeface="Arial" panose="020B0604020202020204"/>
                <a:cs typeface="Arial" panose="020B0604020202020204"/>
              </a:defRPr>
            </a:lvl3pPr>
            <a:lvl4pPr>
              <a:defRPr sz="1800">
                <a:latin typeface="Arial" panose="020B0604020202020204"/>
                <a:cs typeface="Arial" panose="020B0604020202020204"/>
              </a:defRPr>
            </a:lvl4pPr>
            <a:lvl5pPr>
              <a:defRPr sz="1800">
                <a:latin typeface="Arial" panose="020B0604020202020204"/>
                <a:cs typeface="Arial" panose="020B0604020202020204"/>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4645026" y="1534584"/>
            <a:ext cx="4041775" cy="641349"/>
          </a:xfrm>
        </p:spPr>
        <p:txBody>
          <a:bodyPr anchor="b"/>
          <a:lstStyle>
            <a:lvl1pPr marL="0" indent="0">
              <a:buNone/>
              <a:defRPr sz="2400" b="1">
                <a:latin typeface="Arial" panose="020B0604020202020204"/>
                <a:cs typeface="Arial" panose="020B0604020202020204"/>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Subheading</a:t>
            </a:r>
          </a:p>
        </p:txBody>
      </p:sp>
      <p:sp>
        <p:nvSpPr>
          <p:cNvPr id="6" name="Content Placeholder 5"/>
          <p:cNvSpPr>
            <a:spLocks noGrp="1"/>
          </p:cNvSpPr>
          <p:nvPr>
            <p:ph sz="quarter" idx="4"/>
          </p:nvPr>
        </p:nvSpPr>
        <p:spPr>
          <a:xfrm>
            <a:off x="4645026" y="2175934"/>
            <a:ext cx="4041775" cy="3949700"/>
          </a:xfrm>
        </p:spPr>
        <p:txBody>
          <a:bodyPr>
            <a:normAutofit/>
          </a:bodyPr>
          <a:lstStyle>
            <a:lvl1pPr>
              <a:defRPr sz="1800">
                <a:latin typeface="Arial" panose="020B0604020202020204"/>
                <a:cs typeface="Arial" panose="020B0604020202020204"/>
              </a:defRPr>
            </a:lvl1pPr>
            <a:lvl2pPr>
              <a:defRPr sz="1800">
                <a:latin typeface="Arial" panose="020B0604020202020204"/>
                <a:cs typeface="Arial" panose="020B0604020202020204"/>
              </a:defRPr>
            </a:lvl2pPr>
            <a:lvl3pPr>
              <a:defRPr sz="1800">
                <a:latin typeface="Arial" panose="020B0604020202020204"/>
                <a:cs typeface="Arial" panose="020B0604020202020204"/>
              </a:defRPr>
            </a:lvl3pPr>
            <a:lvl4pPr>
              <a:defRPr sz="1800">
                <a:latin typeface="Arial" panose="020B0604020202020204"/>
                <a:cs typeface="Arial" panose="020B0604020202020204"/>
              </a:defRPr>
            </a:lvl4pPr>
            <a:lvl5pPr>
              <a:defRPr sz="1800">
                <a:latin typeface="Arial" panose="020B0604020202020204"/>
                <a:cs typeface="Arial" panose="020B0604020202020204"/>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30CA21-89C5-A040-B01E-D208A7FA3D8D}" type="datetimeFigureOut">
              <a:rPr lang="en-US" smtClean="0"/>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7697F5-3DCA-0A4F-B9EA-FEC2794BD1A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C30CA21-89C5-A040-B01E-D208A7FA3D8D}" type="datetimeFigureOut">
              <a:rPr lang="en-US" smtClean="0"/>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7697F5-3DCA-0A4F-B9EA-FEC2794BD1A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30CA21-89C5-A040-B01E-D208A7FA3D8D}" type="datetimeFigureOut">
              <a:rPr lang="en-US" smtClean="0"/>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7697F5-3DCA-0A4F-B9EA-FEC2794BD1A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2"/>
            <a:ext cx="3008313" cy="1162049"/>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258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0"/>
            <a:ext cx="3008313" cy="46905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30CA21-89C5-A040-B01E-D208A7FA3D8D}"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7697F5-3DCA-0A4F-B9EA-FEC2794BD1A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7267"/>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3833"/>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867"/>
            <a:ext cx="5486400" cy="8043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30CA21-89C5-A040-B01E-D208A7FA3D8D}"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7697F5-3DCA-0A4F-B9EA-FEC2794BD1A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30CA21-89C5-A040-B01E-D208A7FA3D8D}"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7697F5-3DCA-0A4F-B9EA-FEC2794BD1A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5167"/>
            <a:ext cx="2057400" cy="585046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5167"/>
            <a:ext cx="6019800" cy="58504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30CA21-89C5-A040-B01E-D208A7FA3D8D}"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7697F5-3DCA-0A4F-B9EA-FEC2794BD1A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1485"/>
            <a:ext cx="7772400" cy="1468967"/>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01656F7-E2D5-EF4D-B3EB-3635D9B80BFE}"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B7C81B-7B5A-A644-B3E8-EC3DC39B624D}"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1656F7-E2D5-EF4D-B3EB-3635D9B80BFE}"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B7C81B-7B5A-A644-B3E8-EC3DC39B624D}"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313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185"/>
            <a:ext cx="7772400" cy="150071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1656F7-E2D5-EF4D-B3EB-3635D9B80BFE}"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B7C81B-7B5A-A644-B3E8-EC3DC39B624D}"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4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4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1656F7-E2D5-EF4D-B3EB-3635D9B80BFE}"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B7C81B-7B5A-A644-B3E8-EC3DC39B624D}"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4584"/>
            <a:ext cx="4040188" cy="6413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5934"/>
            <a:ext cx="4040188"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4584"/>
            <a:ext cx="4041775" cy="6413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5934"/>
            <a:ext cx="4041775"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1656F7-E2D5-EF4D-B3EB-3635D9B80BFE}" type="datetimeFigureOut">
              <a:rPr lang="en-US" smtClean="0"/>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B7C81B-7B5A-A644-B3E8-EC3DC39B624D}"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01656F7-E2D5-EF4D-B3EB-3635D9B80BFE}" type="datetimeFigureOut">
              <a:rPr lang="en-US" smtClean="0"/>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B7C81B-7B5A-A644-B3E8-EC3DC39B624D}"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1656F7-E2D5-EF4D-B3EB-3635D9B80BFE}" type="datetimeFigureOut">
              <a:rPr lang="en-US" smtClean="0"/>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B7C81B-7B5A-A644-B3E8-EC3DC39B624D}"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2"/>
            <a:ext cx="3008313" cy="1162049"/>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258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0"/>
            <a:ext cx="3008313" cy="46905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1656F7-E2D5-EF4D-B3EB-3635D9B80BFE}"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B7C81B-7B5A-A644-B3E8-EC3DC39B624D}"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7267"/>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3833"/>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867"/>
            <a:ext cx="5486400" cy="8043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1656F7-E2D5-EF4D-B3EB-3635D9B80BFE}"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B7C81B-7B5A-A644-B3E8-EC3DC39B624D}"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1656F7-E2D5-EF4D-B3EB-3635D9B80BFE}"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B7C81B-7B5A-A644-B3E8-EC3DC39B624D}"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5167"/>
            <a:ext cx="2057400" cy="585046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5167"/>
            <a:ext cx="6019800" cy="58504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1656F7-E2D5-EF4D-B3EB-3635D9B80BFE}"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B7C81B-7B5A-A644-B3E8-EC3DC39B624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10" Type="http://schemas.openxmlformats.org/officeDocument/2006/relationships/theme" Target="../theme/theme2.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C2560D-EC28-3B41-86E8-18F1CE0113B4}" type="datetimeFigureOut">
              <a:rPr lang="en-US" smtClean="0"/>
              <a:t>11/15/2025</a:t>
            </a:fld>
            <a:endParaRPr lang="en-US" dirty="0"/>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66355A-084C-D24E-9AD2-7E4FC41EA62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457200" rtl="0" eaLnBrk="1" latinLnBrk="0" hangingPunct="1">
        <a:spcBef>
          <a:spcPct val="0"/>
        </a:spcBef>
        <a:buNone/>
        <a:defRPr sz="4400" kern="1200">
          <a:solidFill>
            <a:schemeClr val="tx1"/>
          </a:solidFill>
          <a:latin typeface="Arial" panose="020B0604020202020204"/>
          <a:ea typeface="+mj-ea"/>
          <a:cs typeface="Arial" panose="020B0604020202020204"/>
        </a:defRPr>
      </a:lvl1pPr>
    </p:titleStyle>
    <p:bodyStyle>
      <a:lvl1pPr marL="342900" indent="-342900" algn="l" defTabSz="457200" rtl="0" eaLnBrk="1" latinLnBrk="0" hangingPunct="1">
        <a:spcBef>
          <a:spcPct val="20000"/>
        </a:spcBef>
        <a:buFont typeface="Arial" panose="020B0604020202020204"/>
        <a:buChar char="•"/>
        <a:defRPr sz="1600" kern="1200">
          <a:solidFill>
            <a:schemeClr val="tx1">
              <a:lumMod val="65000"/>
              <a:lumOff val="35000"/>
            </a:schemeClr>
          </a:solidFill>
          <a:latin typeface="Arial" panose="020B0604020202020204"/>
          <a:ea typeface="+mn-ea"/>
          <a:cs typeface="Arial" panose="020B0604020202020204"/>
        </a:defRPr>
      </a:lvl1pPr>
      <a:lvl2pPr marL="742950" indent="-285750" algn="l" defTabSz="457200" rtl="0" eaLnBrk="1" latinLnBrk="0" hangingPunct="1">
        <a:spcBef>
          <a:spcPct val="20000"/>
        </a:spcBef>
        <a:buFont typeface="Arial" panose="020B0604020202020204"/>
        <a:buChar char="–"/>
        <a:defRPr sz="1600" kern="1200">
          <a:solidFill>
            <a:schemeClr val="tx1">
              <a:lumMod val="65000"/>
              <a:lumOff val="35000"/>
            </a:schemeClr>
          </a:solidFill>
          <a:latin typeface="Arial" panose="020B0604020202020204"/>
          <a:ea typeface="+mn-ea"/>
          <a:cs typeface="Arial" panose="020B0604020202020204"/>
        </a:defRPr>
      </a:lvl2pPr>
      <a:lvl3pPr marL="1143000" indent="-228600" algn="l" defTabSz="457200" rtl="0" eaLnBrk="1" latinLnBrk="0" hangingPunct="1">
        <a:spcBef>
          <a:spcPct val="20000"/>
        </a:spcBef>
        <a:buFont typeface="Arial" panose="020B0604020202020204"/>
        <a:buChar char="•"/>
        <a:defRPr sz="1600" kern="1200">
          <a:solidFill>
            <a:schemeClr val="tx1">
              <a:lumMod val="65000"/>
              <a:lumOff val="35000"/>
            </a:schemeClr>
          </a:solidFill>
          <a:latin typeface="Arial" panose="020B0604020202020204"/>
          <a:ea typeface="+mn-ea"/>
          <a:cs typeface="Arial" panose="020B0604020202020204"/>
        </a:defRPr>
      </a:lvl3pPr>
      <a:lvl4pPr marL="1600200" indent="-228600" algn="l" defTabSz="457200" rtl="0" eaLnBrk="1" latinLnBrk="0" hangingPunct="1">
        <a:spcBef>
          <a:spcPct val="20000"/>
        </a:spcBef>
        <a:buFont typeface="Arial" panose="020B0604020202020204"/>
        <a:buChar char="–"/>
        <a:defRPr sz="1600" kern="1200">
          <a:solidFill>
            <a:schemeClr val="tx1">
              <a:lumMod val="65000"/>
              <a:lumOff val="35000"/>
            </a:schemeClr>
          </a:solidFill>
          <a:latin typeface="Arial" panose="020B0604020202020204"/>
          <a:ea typeface="+mn-ea"/>
          <a:cs typeface="Arial" panose="020B0604020202020204"/>
        </a:defRPr>
      </a:lvl4pPr>
      <a:lvl5pPr marL="2057400" indent="-228600" algn="l" defTabSz="457200" rtl="0" eaLnBrk="1" latinLnBrk="0" hangingPunct="1">
        <a:spcBef>
          <a:spcPct val="20000"/>
        </a:spcBef>
        <a:buFont typeface="Arial" panose="020B0604020202020204"/>
        <a:buChar char="»"/>
        <a:defRPr sz="1600" kern="1200">
          <a:solidFill>
            <a:schemeClr val="tx1">
              <a:lumMod val="65000"/>
              <a:lumOff val="35000"/>
            </a:schemeClr>
          </a:solidFill>
          <a:latin typeface="Arial" panose="020B0604020202020204"/>
          <a:ea typeface="+mn-ea"/>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4325" y="0"/>
            <a:ext cx="9178325" cy="1600200"/>
          </a:xfrm>
          <a:prstGeom prst="rect">
            <a:avLst/>
          </a:prstGeom>
          <a:solidFill>
            <a:srgbClr val="100E2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275167"/>
            <a:ext cx="8229600" cy="1143000"/>
          </a:xfrm>
          <a:prstGeom prst="rect">
            <a:avLst/>
          </a:prstGeom>
        </p:spPr>
        <p:txBody>
          <a:bodyPr vert="horz" lIns="91440" tIns="45720" rIns="91440" bIns="45720" rtlCol="0" anchor="ctr">
            <a:normAutofit/>
          </a:bodyPr>
          <a:lstStyle/>
          <a:p>
            <a:r>
              <a:rPr lang="en-US" dirty="0"/>
              <a:t>Heading</a:t>
            </a:r>
          </a:p>
        </p:txBody>
      </p:sp>
      <p:sp>
        <p:nvSpPr>
          <p:cNvPr id="3" name="Text Placeholder 2"/>
          <p:cNvSpPr>
            <a:spLocks noGrp="1"/>
          </p:cNvSpPr>
          <p:nvPr>
            <p:ph type="body" idx="1"/>
          </p:nvPr>
        </p:nvSpPr>
        <p:spPr>
          <a:xfrm>
            <a:off x="457200" y="1659037"/>
            <a:ext cx="8229600" cy="452543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6183"/>
          </a:xfrm>
          <a:prstGeom prst="rect">
            <a:avLst/>
          </a:prstGeom>
        </p:spPr>
        <p:txBody>
          <a:bodyPr vert="horz" lIns="91440" tIns="45720" rIns="91440" bIns="45720" rtlCol="0" anchor="ctr"/>
          <a:lstStyle>
            <a:lvl1pPr algn="l">
              <a:defRPr sz="1200">
                <a:solidFill>
                  <a:schemeClr val="tx1">
                    <a:tint val="75000"/>
                  </a:schemeClr>
                </a:solidFill>
              </a:defRPr>
            </a:lvl1pPr>
          </a:lstStyle>
          <a:p>
            <a:fld id="{3C30CA21-89C5-A040-B01E-D208A7FA3D8D}" type="datetimeFigureOut">
              <a:rPr lang="en-US" smtClean="0"/>
              <a:t>11/15/2025</a:t>
            </a:fld>
            <a:endParaRPr lang="en-US"/>
          </a:p>
        </p:txBody>
      </p:sp>
      <p:sp>
        <p:nvSpPr>
          <p:cNvPr id="5" name="Footer Placeholder 4"/>
          <p:cNvSpPr>
            <a:spLocks noGrp="1"/>
          </p:cNvSpPr>
          <p:nvPr>
            <p:ph type="ftr" sz="quarter" idx="3"/>
          </p:nvPr>
        </p:nvSpPr>
        <p:spPr>
          <a:xfrm>
            <a:off x="3124200" y="6356351"/>
            <a:ext cx="2895600" cy="36618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6183"/>
          </a:xfrm>
          <a:prstGeom prst="rect">
            <a:avLst/>
          </a:prstGeom>
        </p:spPr>
        <p:txBody>
          <a:bodyPr vert="horz" lIns="91440" tIns="45720" rIns="91440" bIns="45720" rtlCol="0" anchor="ctr"/>
          <a:lstStyle>
            <a:lvl1pPr algn="r">
              <a:defRPr sz="1200">
                <a:solidFill>
                  <a:schemeClr val="tx1">
                    <a:tint val="75000"/>
                  </a:schemeClr>
                </a:solidFill>
              </a:defRPr>
            </a:lvl1pPr>
          </a:lstStyle>
          <a:p>
            <a:fld id="{CC7697F5-3DCA-0A4F-B9EA-FEC2794BD1A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txStyles>
    <p:titleStyle>
      <a:lvl1pPr algn="l" defTabSz="457200" rtl="0" eaLnBrk="1" latinLnBrk="0" hangingPunct="1">
        <a:spcBef>
          <a:spcPct val="0"/>
        </a:spcBef>
        <a:buNone/>
        <a:defRPr sz="4400" kern="1200">
          <a:solidFill>
            <a:srgbClr val="FFFFFF"/>
          </a:solidFill>
          <a:latin typeface="Arial" panose="020B0604020202020204"/>
          <a:ea typeface="+mj-ea"/>
          <a:cs typeface="Arial" panose="020B0604020202020204"/>
        </a:defRPr>
      </a:lvl1pPr>
    </p:titleStyle>
    <p:bodyStyle>
      <a:lvl1pPr marL="342900" indent="-342900" algn="l" defTabSz="457200" rtl="0" eaLnBrk="1" latinLnBrk="0" hangingPunct="1">
        <a:spcBef>
          <a:spcPct val="20000"/>
        </a:spcBef>
        <a:buFont typeface="Arial" panose="020B0604020202020204"/>
        <a:buChar char="•"/>
        <a:defRPr sz="1600" kern="1200">
          <a:solidFill>
            <a:schemeClr val="tx1"/>
          </a:solidFill>
          <a:latin typeface="Arial" panose="020B0604020202020204"/>
          <a:ea typeface="+mn-ea"/>
          <a:cs typeface="Arial" panose="020B0604020202020204"/>
        </a:defRPr>
      </a:lvl1pPr>
      <a:lvl2pPr marL="742950" indent="-285750" algn="l" defTabSz="457200" rtl="0" eaLnBrk="1" latinLnBrk="0" hangingPunct="1">
        <a:spcBef>
          <a:spcPct val="20000"/>
        </a:spcBef>
        <a:buFont typeface="Arial" panose="020B0604020202020204"/>
        <a:buChar char="–"/>
        <a:defRPr sz="1600" kern="1200">
          <a:solidFill>
            <a:schemeClr val="tx1"/>
          </a:solidFill>
          <a:latin typeface="Arial" panose="020B0604020202020204"/>
          <a:ea typeface="+mn-ea"/>
          <a:cs typeface="Arial" panose="020B0604020202020204"/>
        </a:defRPr>
      </a:lvl2pPr>
      <a:lvl3pPr marL="1143000" indent="-228600" algn="l" defTabSz="457200" rtl="0" eaLnBrk="1" latinLnBrk="0" hangingPunct="1">
        <a:spcBef>
          <a:spcPct val="20000"/>
        </a:spcBef>
        <a:buFont typeface="Arial" panose="020B0604020202020204"/>
        <a:buChar char="•"/>
        <a:defRPr sz="1600" kern="1200">
          <a:solidFill>
            <a:schemeClr val="tx1"/>
          </a:solidFill>
          <a:latin typeface="Arial" panose="020B0604020202020204"/>
          <a:ea typeface="+mn-ea"/>
          <a:cs typeface="Arial" panose="020B0604020202020204"/>
        </a:defRPr>
      </a:lvl3pPr>
      <a:lvl4pPr marL="1600200" indent="-228600" algn="l" defTabSz="457200" rtl="0" eaLnBrk="1" latinLnBrk="0" hangingPunct="1">
        <a:spcBef>
          <a:spcPct val="20000"/>
        </a:spcBef>
        <a:buFont typeface="Arial" panose="020B0604020202020204"/>
        <a:buChar char="–"/>
        <a:defRPr sz="1600" kern="1200">
          <a:solidFill>
            <a:schemeClr val="tx1"/>
          </a:solidFill>
          <a:latin typeface="Arial" panose="020B0604020202020204"/>
          <a:ea typeface="+mn-ea"/>
          <a:cs typeface="Arial" panose="020B0604020202020204"/>
        </a:defRPr>
      </a:lvl4pPr>
      <a:lvl5pPr marL="2057400" indent="-228600" algn="l" defTabSz="457200" rtl="0" eaLnBrk="1" latinLnBrk="0" hangingPunct="1">
        <a:spcBef>
          <a:spcPct val="20000"/>
        </a:spcBef>
        <a:buFont typeface="Arial" panose="020B0604020202020204"/>
        <a:buChar char="»"/>
        <a:defRPr sz="1600" kern="1200">
          <a:solidFill>
            <a:schemeClr val="tx1"/>
          </a:solidFill>
          <a:latin typeface="Arial" panose="020B0604020202020204"/>
          <a:ea typeface="+mn-ea"/>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5167"/>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4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6183"/>
          </a:xfrm>
          <a:prstGeom prst="rect">
            <a:avLst/>
          </a:prstGeom>
        </p:spPr>
        <p:txBody>
          <a:bodyPr vert="horz" lIns="91440" tIns="45720" rIns="91440" bIns="45720" rtlCol="0" anchor="ctr"/>
          <a:lstStyle>
            <a:lvl1pPr algn="l">
              <a:defRPr sz="1200">
                <a:solidFill>
                  <a:schemeClr val="tx1">
                    <a:tint val="75000"/>
                  </a:schemeClr>
                </a:solidFill>
              </a:defRPr>
            </a:lvl1pPr>
          </a:lstStyle>
          <a:p>
            <a:fld id="{501656F7-E2D5-EF4D-B3EB-3635D9B80BFE}" type="datetimeFigureOut">
              <a:rPr lang="en-US" smtClean="0"/>
              <a:t>11/15/2025</a:t>
            </a:fld>
            <a:endParaRPr lang="en-US"/>
          </a:p>
        </p:txBody>
      </p:sp>
      <p:sp>
        <p:nvSpPr>
          <p:cNvPr id="5" name="Footer Placeholder 4"/>
          <p:cNvSpPr>
            <a:spLocks noGrp="1"/>
          </p:cNvSpPr>
          <p:nvPr>
            <p:ph type="ftr" sz="quarter" idx="3"/>
          </p:nvPr>
        </p:nvSpPr>
        <p:spPr>
          <a:xfrm>
            <a:off x="3124200" y="6356351"/>
            <a:ext cx="2895600" cy="36618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6183"/>
          </a:xfrm>
          <a:prstGeom prst="rect">
            <a:avLst/>
          </a:prstGeom>
        </p:spPr>
        <p:txBody>
          <a:bodyPr vert="horz" lIns="91440" tIns="45720" rIns="91440" bIns="45720" rtlCol="0" anchor="ctr"/>
          <a:lstStyle>
            <a:lvl1pPr algn="r">
              <a:defRPr sz="1200">
                <a:solidFill>
                  <a:schemeClr val="tx1">
                    <a:tint val="75000"/>
                  </a:schemeClr>
                </a:solidFill>
              </a:defRPr>
            </a:lvl1pPr>
          </a:lstStyle>
          <a:p>
            <a:fld id="{41B7C81B-7B5A-A644-B3E8-EC3DC39B624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457200" y="1555870"/>
            <a:ext cx="8229600" cy="1143000"/>
          </a:xfrm>
          <a:prstGeom prst="rect">
            <a:avLst/>
          </a:prstGeom>
        </p:spPr>
        <p:txBody>
          <a:bodyPr vert="horz" lIns="91440" tIns="45720" rIns="91440" bIns="45720" rtlCol="0" anchor="ctr">
            <a:noAutofit/>
          </a:bodyPr>
          <a:lstStyle>
            <a:lvl1pPr algn="l" defTabSz="457200" rtl="0" eaLnBrk="1" latinLnBrk="0" hangingPunct="1">
              <a:spcBef>
                <a:spcPct val="0"/>
              </a:spcBef>
              <a:buNone/>
              <a:defRPr sz="4400" kern="1200">
                <a:solidFill>
                  <a:schemeClr val="bg1"/>
                </a:solidFill>
                <a:latin typeface="Arial" panose="020B0604020202020204"/>
                <a:ea typeface="+mj-ea"/>
                <a:cs typeface="Arial" panose="020B0604020202020204"/>
              </a:defRPr>
            </a:lvl1pPr>
          </a:lstStyle>
          <a:p>
            <a:r>
              <a:rPr lang="en-US" sz="2400" dirty="0" err="1">
                <a:solidFill>
                  <a:schemeClr val="tx1"/>
                </a:solidFill>
              </a:rPr>
              <a:t>KernelOracle</a:t>
            </a:r>
            <a:r>
              <a:rPr lang="en-US" sz="2400" dirty="0">
                <a:solidFill>
                  <a:schemeClr val="tx1"/>
                </a:solidFill>
              </a:rPr>
              <a:t>++: A Modernized Framework for Scheduler Prediction</a:t>
            </a:r>
            <a:endParaRPr sz="2400" b="1" dirty="0">
              <a:solidFill>
                <a:schemeClr val="tx1"/>
              </a:solidFill>
            </a:endParaRPr>
          </a:p>
        </p:txBody>
      </p:sp>
      <p:sp>
        <p:nvSpPr>
          <p:cNvPr id="5" name="Title 1"/>
          <p:cNvSpPr txBox="1"/>
          <p:nvPr/>
        </p:nvSpPr>
        <p:spPr>
          <a:xfrm>
            <a:off x="457200" y="3429000"/>
            <a:ext cx="8229600" cy="11430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4400" kern="1200">
                <a:solidFill>
                  <a:schemeClr val="bg1"/>
                </a:solidFill>
                <a:latin typeface="Arial" panose="020B0604020202020204"/>
                <a:ea typeface="+mj-ea"/>
                <a:cs typeface="Arial" panose="020B0604020202020204"/>
              </a:defRPr>
            </a:lvl1pPr>
          </a:lstStyle>
          <a:p>
            <a:r>
              <a:rPr lang="en-US" sz="2400" dirty="0">
                <a:solidFill>
                  <a:schemeClr val="tx1"/>
                </a:solidFill>
              </a:rPr>
              <a:t>Group Member: Zixu Shen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Problem Does </a:t>
            </a:r>
            <a:r>
              <a:rPr lang="en-US" dirty="0" err="1"/>
              <a:t>KernelOracle</a:t>
            </a:r>
            <a:r>
              <a:rPr lang="en-US" dirty="0"/>
              <a:t> Try to Solve?</a:t>
            </a:r>
          </a:p>
        </p:txBody>
      </p:sp>
      <p:sp>
        <p:nvSpPr>
          <p:cNvPr id="4" name="Content Placeholder 2">
            <a:extLst>
              <a:ext uri="{FF2B5EF4-FFF2-40B4-BE49-F238E27FC236}">
                <a16:creationId xmlns:a16="http://schemas.microsoft.com/office/drawing/2014/main" id="{21AC9E40-02EF-8AA5-0792-0669F6A169C4}"/>
              </a:ext>
            </a:extLst>
          </p:cNvPr>
          <p:cNvSpPr>
            <a:spLocks noGrp="1"/>
          </p:cNvSpPr>
          <p:nvPr>
            <p:ph idx="1"/>
          </p:nvPr>
        </p:nvSpPr>
        <p:spPr>
          <a:xfrm>
            <a:off x="457200" y="1883689"/>
            <a:ext cx="8229600" cy="4043286"/>
          </a:xfrm>
        </p:spPr>
        <p:txBody>
          <a:bodyPr>
            <a:noAutofit/>
          </a:bodyPr>
          <a:lstStyle/>
          <a:p>
            <a:r>
              <a:rPr lang="en-US" altLang="zh-CN" b="1" dirty="0"/>
              <a:t>Kernel Scheduling Matters</a:t>
            </a:r>
            <a:endParaRPr lang="en-US" dirty="0"/>
          </a:p>
          <a:p>
            <a:pPr lvl="1"/>
            <a:r>
              <a:rPr lang="en-US" dirty="0"/>
              <a:t>Linux scheduler decides which task runs next and how long it runs</a:t>
            </a:r>
          </a:p>
          <a:p>
            <a:pPr lvl="1"/>
            <a:r>
              <a:rPr lang="en-US" dirty="0"/>
              <a:t>Scheduler behavior directly affects: System responsiveness, Latency, Throughput, CPU utilization</a:t>
            </a:r>
          </a:p>
          <a:p>
            <a:r>
              <a:rPr lang="en-US" b="1" dirty="0"/>
              <a:t>Prediction is Hard but Valuable</a:t>
            </a:r>
            <a:endParaRPr lang="en-US" dirty="0"/>
          </a:p>
          <a:p>
            <a:pPr lvl="1"/>
            <a:r>
              <a:rPr lang="en-US" dirty="0"/>
              <a:t>If we can predict scheduler behavior:</a:t>
            </a:r>
          </a:p>
          <a:p>
            <a:pPr lvl="2"/>
            <a:r>
              <a:rPr lang="en-US" dirty="0"/>
              <a:t>We can analyze bottlenecks</a:t>
            </a:r>
          </a:p>
          <a:p>
            <a:pPr lvl="2"/>
            <a:r>
              <a:rPr lang="en-US" dirty="0"/>
              <a:t>Reduce unnecessary context switches</a:t>
            </a:r>
          </a:p>
          <a:p>
            <a:pPr lvl="2"/>
            <a:r>
              <a:rPr lang="en-US" dirty="0"/>
              <a:t>Detect anomalies</a:t>
            </a:r>
          </a:p>
          <a:p>
            <a:pPr lvl="2"/>
            <a:r>
              <a:rPr lang="en-US" dirty="0"/>
              <a:t>Potentially guide scheduling decisions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7B361-4E0D-F147-86EB-D2986D4DEB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26D66-08EE-81DB-D89C-D25F32AC0D2A}"/>
              </a:ext>
            </a:extLst>
          </p:cNvPr>
          <p:cNvSpPr>
            <a:spLocks noGrp="1"/>
          </p:cNvSpPr>
          <p:nvPr>
            <p:ph type="title"/>
          </p:nvPr>
        </p:nvSpPr>
        <p:spPr/>
        <p:txBody>
          <a:bodyPr>
            <a:normAutofit fontScale="90000"/>
          </a:bodyPr>
          <a:lstStyle/>
          <a:p>
            <a:r>
              <a:rPr lang="en-US" dirty="0"/>
              <a:t>What Limitations Exist in the Original </a:t>
            </a:r>
            <a:r>
              <a:rPr lang="en-US" dirty="0" err="1"/>
              <a:t>KernelOracle</a:t>
            </a:r>
            <a:r>
              <a:rPr lang="en-US" dirty="0"/>
              <a:t>?</a:t>
            </a:r>
          </a:p>
        </p:txBody>
      </p:sp>
      <p:sp>
        <p:nvSpPr>
          <p:cNvPr id="4" name="Content Placeholder 2">
            <a:extLst>
              <a:ext uri="{FF2B5EF4-FFF2-40B4-BE49-F238E27FC236}">
                <a16:creationId xmlns:a16="http://schemas.microsoft.com/office/drawing/2014/main" id="{99DB7E15-0215-A341-6AC9-BFE14A66BFBC}"/>
              </a:ext>
            </a:extLst>
          </p:cNvPr>
          <p:cNvSpPr>
            <a:spLocks noGrp="1"/>
          </p:cNvSpPr>
          <p:nvPr>
            <p:ph idx="1"/>
          </p:nvPr>
        </p:nvSpPr>
        <p:spPr>
          <a:xfrm>
            <a:off x="457200" y="1883689"/>
            <a:ext cx="8229600" cy="4043286"/>
          </a:xfrm>
        </p:spPr>
        <p:txBody>
          <a:bodyPr>
            <a:noAutofit/>
          </a:bodyPr>
          <a:lstStyle/>
          <a:p>
            <a:r>
              <a:rPr lang="en-US" altLang="zh-CN" b="1" dirty="0"/>
              <a:t>Key Limitations of the Original System</a:t>
            </a:r>
            <a:endParaRPr lang="en-US" dirty="0"/>
          </a:p>
          <a:p>
            <a:pPr lvl="1"/>
            <a:r>
              <a:rPr lang="en-US" dirty="0"/>
              <a:t>Overly general assumption: </a:t>
            </a:r>
            <a:r>
              <a:rPr lang="en-US" i="1" dirty="0"/>
              <a:t>“all Linux systems are predictable”</a:t>
            </a:r>
          </a:p>
          <a:p>
            <a:pPr lvl="1"/>
            <a:r>
              <a:rPr lang="en-US" dirty="0"/>
              <a:t>Standalone machines have noisy, irregular workloads</a:t>
            </a:r>
          </a:p>
          <a:p>
            <a:pPr lvl="1"/>
            <a:r>
              <a:rPr lang="en-US" dirty="0"/>
              <a:t>Unstable long-horizon predictions (frequent oscillations)</a:t>
            </a:r>
          </a:p>
          <a:p>
            <a:pPr lvl="1"/>
            <a:r>
              <a:rPr lang="en-US" dirty="0"/>
              <a:t>Inefficient architecture: step-wise </a:t>
            </a:r>
            <a:r>
              <a:rPr lang="en-US" dirty="0" err="1"/>
              <a:t>LSTMCell</a:t>
            </a:r>
            <a:r>
              <a:rPr lang="en-US" dirty="0"/>
              <a:t> loops</a:t>
            </a:r>
          </a:p>
          <a:p>
            <a:pPr lvl="1"/>
            <a:r>
              <a:rPr lang="en-US" dirty="0"/>
              <a:t>LBFGS optimizer causes slow, unstable training</a:t>
            </a:r>
          </a:p>
          <a:p>
            <a:pPr lvl="1"/>
            <a:r>
              <a:rPr lang="en-US" dirty="0"/>
              <a:t>No validation set, no early stopping mechanism</a:t>
            </a:r>
          </a:p>
          <a:p>
            <a:pPr lvl="1"/>
            <a:r>
              <a:rPr lang="en-US" dirty="0"/>
              <a:t>No reproducibility tools (config, logging, checkpoints)</a:t>
            </a:r>
          </a:p>
        </p:txBody>
      </p:sp>
    </p:spTree>
    <p:extLst>
      <p:ext uri="{BB962C8B-B14F-4D97-AF65-F5344CB8AC3E}">
        <p14:creationId xmlns:p14="http://schemas.microsoft.com/office/powerpoint/2010/main" val="998415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FF204-F046-88B0-C550-CE332DBF96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6B3A6A-A951-94DD-FF12-EEDA6E180786}"/>
              </a:ext>
            </a:extLst>
          </p:cNvPr>
          <p:cNvSpPr>
            <a:spLocks noGrp="1"/>
          </p:cNvSpPr>
          <p:nvPr>
            <p:ph type="title"/>
          </p:nvPr>
        </p:nvSpPr>
        <p:spPr/>
        <p:txBody>
          <a:bodyPr>
            <a:normAutofit/>
          </a:bodyPr>
          <a:lstStyle/>
          <a:p>
            <a:r>
              <a:rPr lang="en-US" dirty="0"/>
              <a:t>Refining the Prediction Scope</a:t>
            </a:r>
          </a:p>
        </p:txBody>
      </p:sp>
      <p:sp>
        <p:nvSpPr>
          <p:cNvPr id="4" name="Content Placeholder 2">
            <a:extLst>
              <a:ext uri="{FF2B5EF4-FFF2-40B4-BE49-F238E27FC236}">
                <a16:creationId xmlns:a16="http://schemas.microsoft.com/office/drawing/2014/main" id="{B9B3573E-4643-B89C-9AA9-41BFF6095EC2}"/>
              </a:ext>
            </a:extLst>
          </p:cNvPr>
          <p:cNvSpPr>
            <a:spLocks noGrp="1"/>
          </p:cNvSpPr>
          <p:nvPr>
            <p:ph idx="1"/>
          </p:nvPr>
        </p:nvSpPr>
        <p:spPr>
          <a:xfrm>
            <a:off x="457200" y="1883689"/>
            <a:ext cx="8229600" cy="2962631"/>
          </a:xfrm>
        </p:spPr>
        <p:txBody>
          <a:bodyPr>
            <a:noAutofit/>
          </a:bodyPr>
          <a:lstStyle/>
          <a:p>
            <a:r>
              <a:rPr lang="en-US" altLang="zh-CN" dirty="0"/>
              <a:t>Original system assumes all Linux hosts are predictable</a:t>
            </a:r>
          </a:p>
          <a:p>
            <a:r>
              <a:rPr lang="en-US" dirty="0"/>
              <a:t>But standalone / low-user machines = high noise, no stable patterns</a:t>
            </a:r>
          </a:p>
          <a:p>
            <a:r>
              <a:rPr lang="en-US" dirty="0"/>
              <a:t>Prediction only meaningful in structured workloads</a:t>
            </a:r>
          </a:p>
          <a:p>
            <a:r>
              <a:rPr lang="en-US" dirty="0"/>
              <a:t>New target environment:</a:t>
            </a:r>
          </a:p>
          <a:p>
            <a:pPr lvl="1"/>
            <a:r>
              <a:rPr lang="en-US" dirty="0"/>
              <a:t>cloud servers</a:t>
            </a:r>
          </a:p>
          <a:p>
            <a:pPr lvl="1"/>
            <a:r>
              <a:rPr lang="en-US" dirty="0"/>
              <a:t>long-running services</a:t>
            </a:r>
          </a:p>
          <a:p>
            <a:pPr lvl="1"/>
            <a:r>
              <a:rPr lang="en-US" dirty="0"/>
              <a:t>applications with repeatable traffic</a:t>
            </a:r>
          </a:p>
        </p:txBody>
      </p:sp>
      <p:sp>
        <p:nvSpPr>
          <p:cNvPr id="3" name="矩形 2">
            <a:extLst>
              <a:ext uri="{FF2B5EF4-FFF2-40B4-BE49-F238E27FC236}">
                <a16:creationId xmlns:a16="http://schemas.microsoft.com/office/drawing/2014/main" id="{8E7C5DBA-670F-658F-DE80-ABA17E61C639}"/>
              </a:ext>
            </a:extLst>
          </p:cNvPr>
          <p:cNvSpPr/>
          <p:nvPr/>
        </p:nvSpPr>
        <p:spPr>
          <a:xfrm>
            <a:off x="1072342" y="4663450"/>
            <a:ext cx="2693324" cy="1271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t>Standalone Machine</a:t>
            </a:r>
          </a:p>
          <a:p>
            <a:r>
              <a:rPr lang="en-US" dirty="0"/>
              <a:t>  - Random bursts</a:t>
            </a:r>
          </a:p>
          <a:p>
            <a:r>
              <a:rPr lang="en-US" dirty="0"/>
              <a:t>  - No user regularity</a:t>
            </a:r>
          </a:p>
          <a:p>
            <a:r>
              <a:rPr lang="en-US" dirty="0"/>
              <a:t>  - Low predictability</a:t>
            </a:r>
          </a:p>
        </p:txBody>
      </p:sp>
      <p:sp>
        <p:nvSpPr>
          <p:cNvPr id="5" name="矩形 4">
            <a:extLst>
              <a:ext uri="{FF2B5EF4-FFF2-40B4-BE49-F238E27FC236}">
                <a16:creationId xmlns:a16="http://schemas.microsoft.com/office/drawing/2014/main" id="{2C5D743C-2465-CABE-FED0-F7315B99FFFC}"/>
              </a:ext>
            </a:extLst>
          </p:cNvPr>
          <p:cNvSpPr/>
          <p:nvPr/>
        </p:nvSpPr>
        <p:spPr>
          <a:xfrm>
            <a:off x="5378336" y="4663450"/>
            <a:ext cx="2693324" cy="1271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t>Cloud/Server System</a:t>
            </a:r>
          </a:p>
          <a:p>
            <a:r>
              <a:rPr lang="en-US" dirty="0"/>
              <a:t>  - Fixed workload profiles</a:t>
            </a:r>
          </a:p>
          <a:p>
            <a:r>
              <a:rPr lang="en-US" dirty="0"/>
              <a:t>  - Repeated patterns</a:t>
            </a:r>
          </a:p>
          <a:p>
            <a:r>
              <a:rPr lang="en-US" dirty="0"/>
              <a:t>  - High predictability</a:t>
            </a:r>
          </a:p>
        </p:txBody>
      </p:sp>
      <p:cxnSp>
        <p:nvCxnSpPr>
          <p:cNvPr id="15" name="直接箭头连接符 14">
            <a:extLst>
              <a:ext uri="{FF2B5EF4-FFF2-40B4-BE49-F238E27FC236}">
                <a16:creationId xmlns:a16="http://schemas.microsoft.com/office/drawing/2014/main" id="{DB529459-B2F9-3C7C-B34D-943E94E62E34}"/>
              </a:ext>
            </a:extLst>
          </p:cNvPr>
          <p:cNvCxnSpPr>
            <a:stCxn id="3" idx="3"/>
            <a:endCxn id="5" idx="1"/>
          </p:cNvCxnSpPr>
          <p:nvPr/>
        </p:nvCxnSpPr>
        <p:spPr>
          <a:xfrm>
            <a:off x="3765666" y="5298950"/>
            <a:ext cx="161267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319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35E51-0416-521A-E68B-31918774F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D352CC-0182-F39D-A93C-A0B6A4FEFD49}"/>
              </a:ext>
            </a:extLst>
          </p:cNvPr>
          <p:cNvSpPr>
            <a:spLocks noGrp="1"/>
          </p:cNvSpPr>
          <p:nvPr>
            <p:ph type="title"/>
          </p:nvPr>
        </p:nvSpPr>
        <p:spPr/>
        <p:txBody>
          <a:bodyPr>
            <a:normAutofit fontScale="90000"/>
          </a:bodyPr>
          <a:lstStyle/>
          <a:p>
            <a:r>
              <a:rPr lang="en-US" dirty="0"/>
              <a:t>Model Architecture Enhancement</a:t>
            </a:r>
          </a:p>
        </p:txBody>
      </p:sp>
      <p:sp>
        <p:nvSpPr>
          <p:cNvPr id="4" name="Content Placeholder 2">
            <a:extLst>
              <a:ext uri="{FF2B5EF4-FFF2-40B4-BE49-F238E27FC236}">
                <a16:creationId xmlns:a16="http://schemas.microsoft.com/office/drawing/2014/main" id="{8F797903-D4C3-8984-BF8B-95753E631F7E}"/>
              </a:ext>
            </a:extLst>
          </p:cNvPr>
          <p:cNvSpPr>
            <a:spLocks noGrp="1"/>
          </p:cNvSpPr>
          <p:nvPr>
            <p:ph idx="1"/>
          </p:nvPr>
        </p:nvSpPr>
        <p:spPr>
          <a:xfrm>
            <a:off x="457200" y="1883690"/>
            <a:ext cx="8229600" cy="1906914"/>
          </a:xfrm>
        </p:spPr>
        <p:txBody>
          <a:bodyPr>
            <a:noAutofit/>
          </a:bodyPr>
          <a:lstStyle/>
          <a:p>
            <a:r>
              <a:rPr lang="en-US" dirty="0"/>
              <a:t>Replace step-wise </a:t>
            </a:r>
            <a:r>
              <a:rPr lang="en-US" dirty="0" err="1"/>
              <a:t>LSTMCell</a:t>
            </a:r>
            <a:r>
              <a:rPr lang="en-US" dirty="0"/>
              <a:t> loop</a:t>
            </a:r>
            <a:endParaRPr lang="en-US" altLang="zh-CN" dirty="0"/>
          </a:p>
          <a:p>
            <a:r>
              <a:rPr lang="en-US" dirty="0"/>
              <a:t>Use batched </a:t>
            </a:r>
            <a:r>
              <a:rPr lang="en-US" dirty="0" err="1"/>
              <a:t>nn.LSTM</a:t>
            </a:r>
            <a:r>
              <a:rPr lang="en-US" dirty="0"/>
              <a:t> for full-sequence processing</a:t>
            </a:r>
          </a:p>
          <a:p>
            <a:r>
              <a:rPr lang="en-US" dirty="0"/>
              <a:t>Supports dropout and multi-layer structure</a:t>
            </a:r>
          </a:p>
          <a:p>
            <a:r>
              <a:rPr lang="en-US" dirty="0"/>
              <a:t>Faster, more stable temporal modeling</a:t>
            </a:r>
          </a:p>
          <a:p>
            <a:r>
              <a:rPr lang="en-US" dirty="0"/>
              <a:t>Enables better long-horizon prediction</a:t>
            </a:r>
          </a:p>
        </p:txBody>
      </p:sp>
      <p:grpSp>
        <p:nvGrpSpPr>
          <p:cNvPr id="9" name="组合 8">
            <a:extLst>
              <a:ext uri="{FF2B5EF4-FFF2-40B4-BE49-F238E27FC236}">
                <a16:creationId xmlns:a16="http://schemas.microsoft.com/office/drawing/2014/main" id="{35DDD2D4-72BA-890B-1559-370B4033FF37}"/>
              </a:ext>
            </a:extLst>
          </p:cNvPr>
          <p:cNvGrpSpPr/>
          <p:nvPr/>
        </p:nvGrpSpPr>
        <p:grpSpPr>
          <a:xfrm>
            <a:off x="2510443" y="3990109"/>
            <a:ext cx="4123113" cy="1957744"/>
            <a:chOff x="2402378" y="3990109"/>
            <a:chExt cx="4123113" cy="1957744"/>
          </a:xfrm>
        </p:grpSpPr>
        <p:sp>
          <p:nvSpPr>
            <p:cNvPr id="7" name="矩形 6">
              <a:extLst>
                <a:ext uri="{FF2B5EF4-FFF2-40B4-BE49-F238E27FC236}">
                  <a16:creationId xmlns:a16="http://schemas.microsoft.com/office/drawing/2014/main" id="{00AA27DF-517F-30FD-05B3-C69FF3752EFF}"/>
                </a:ext>
              </a:extLst>
            </p:cNvPr>
            <p:cNvSpPr/>
            <p:nvPr/>
          </p:nvSpPr>
          <p:spPr>
            <a:xfrm>
              <a:off x="2402378" y="3990109"/>
              <a:ext cx="4123113" cy="1957744"/>
            </a:xfrm>
            <a:prstGeom prst="rect">
              <a:avLst/>
            </a:prstGeom>
            <a:no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矩形 7">
              <a:extLst>
                <a:ext uri="{FF2B5EF4-FFF2-40B4-BE49-F238E27FC236}">
                  <a16:creationId xmlns:a16="http://schemas.microsoft.com/office/drawing/2014/main" id="{A78E2985-B9AA-B371-FA8E-67529E023F49}"/>
                </a:ext>
              </a:extLst>
            </p:cNvPr>
            <p:cNvSpPr/>
            <p:nvPr/>
          </p:nvSpPr>
          <p:spPr>
            <a:xfrm>
              <a:off x="2402378" y="4008861"/>
              <a:ext cx="3996159" cy="1938992"/>
            </a:xfrm>
            <a:prstGeom prst="rect">
              <a:avLst/>
            </a:prstGeom>
            <a:noFill/>
          </p:spPr>
          <p:txBody>
            <a:bodyPr wrap="square" lIns="91440" tIns="45720" rIns="91440" bIns="45720">
              <a:spAutoFit/>
            </a:bodyPr>
            <a:lstStyle/>
            <a:p>
              <a:r>
                <a:rPr lang="en-US" altLang="zh-CN" sz="2400" dirty="0" err="1">
                  <a:ln w="0"/>
                  <a:effectLst>
                    <a:outerShdw blurRad="38100" dist="19050" dir="2700000" algn="tl" rotWithShape="0">
                      <a:schemeClr val="dk1">
                        <a:alpha val="40000"/>
                      </a:schemeClr>
                    </a:outerShdw>
                  </a:effectLst>
                </a:rPr>
                <a:t>self.lstm</a:t>
              </a:r>
              <a:r>
                <a:rPr lang="en-US" altLang="zh-CN" sz="2400" dirty="0">
                  <a:ln w="0"/>
                  <a:effectLst>
                    <a:outerShdw blurRad="38100" dist="19050" dir="2700000" algn="tl" rotWithShape="0">
                      <a:schemeClr val="dk1">
                        <a:alpha val="40000"/>
                      </a:schemeClr>
                    </a:outerShdw>
                  </a:effectLst>
                </a:rPr>
                <a:t> = </a:t>
              </a:r>
              <a:r>
                <a:rPr lang="en-US" altLang="zh-CN" sz="2400" dirty="0" err="1">
                  <a:ln w="0"/>
                  <a:effectLst>
                    <a:outerShdw blurRad="38100" dist="19050" dir="2700000" algn="tl" rotWithShape="0">
                      <a:schemeClr val="dk1">
                        <a:alpha val="40000"/>
                      </a:schemeClr>
                    </a:outerShdw>
                  </a:effectLst>
                </a:rPr>
                <a:t>nn.LSTM</a:t>
              </a:r>
              <a:r>
                <a:rPr lang="en-US" altLang="zh-CN" sz="2400" dirty="0">
                  <a:ln w="0"/>
                  <a:effectLst>
                    <a:outerShdw blurRad="38100" dist="19050" dir="2700000" algn="tl" rotWithShape="0">
                      <a:schemeClr val="dk1">
                        <a:alpha val="40000"/>
                      </a:schemeClr>
                    </a:outerShdw>
                  </a:effectLst>
                </a:rPr>
                <a:t>(</a:t>
              </a:r>
            </a:p>
            <a:p>
              <a:r>
                <a:rPr lang="en-US" altLang="zh-CN" sz="2400" dirty="0">
                  <a:ln w="0"/>
                  <a:effectLst>
                    <a:outerShdw blurRad="38100" dist="19050" dir="2700000" algn="tl" rotWithShape="0">
                      <a:schemeClr val="dk1">
                        <a:alpha val="40000"/>
                      </a:schemeClr>
                    </a:outerShdw>
                  </a:effectLst>
                </a:rPr>
                <a:t>    </a:t>
              </a:r>
              <a:r>
                <a:rPr lang="en-US" altLang="zh-CN" sz="2400" dirty="0" err="1">
                  <a:ln w="0"/>
                  <a:effectLst>
                    <a:outerShdw blurRad="38100" dist="19050" dir="2700000" algn="tl" rotWithShape="0">
                      <a:schemeClr val="dk1">
                        <a:alpha val="40000"/>
                      </a:schemeClr>
                    </a:outerShdw>
                  </a:effectLst>
                </a:rPr>
                <a:t>input_dim</a:t>
              </a:r>
              <a:r>
                <a:rPr lang="en-US" altLang="zh-CN" sz="2400" dirty="0">
                  <a:ln w="0"/>
                  <a:effectLst>
                    <a:outerShdw blurRad="38100" dist="19050" dir="2700000" algn="tl" rotWithShape="0">
                      <a:schemeClr val="dk1">
                        <a:alpha val="40000"/>
                      </a:schemeClr>
                    </a:outerShdw>
                  </a:effectLst>
                </a:rPr>
                <a:t>, </a:t>
              </a:r>
              <a:r>
                <a:rPr lang="en-US" altLang="zh-CN" sz="2400" dirty="0" err="1">
                  <a:ln w="0"/>
                  <a:effectLst>
                    <a:outerShdw blurRad="38100" dist="19050" dir="2700000" algn="tl" rotWithShape="0">
                      <a:schemeClr val="dk1">
                        <a:alpha val="40000"/>
                      </a:schemeClr>
                    </a:outerShdw>
                  </a:effectLst>
                </a:rPr>
                <a:t>hidden_dim</a:t>
              </a:r>
              <a:r>
                <a:rPr lang="en-US" altLang="zh-CN" sz="2400" dirty="0">
                  <a:ln w="0"/>
                  <a:effectLst>
                    <a:outerShdw blurRad="38100" dist="19050" dir="2700000" algn="tl" rotWithShape="0">
                      <a:schemeClr val="dk1">
                        <a:alpha val="40000"/>
                      </a:schemeClr>
                    </a:outerShdw>
                  </a:effectLst>
                </a:rPr>
                <a:t>,</a:t>
              </a:r>
            </a:p>
            <a:p>
              <a:r>
                <a:rPr lang="en-US" altLang="zh-CN" sz="2400" dirty="0">
                  <a:ln w="0"/>
                  <a:effectLst>
                    <a:outerShdw blurRad="38100" dist="19050" dir="2700000" algn="tl" rotWithShape="0">
                      <a:schemeClr val="dk1">
                        <a:alpha val="40000"/>
                      </a:schemeClr>
                    </a:outerShdw>
                  </a:effectLst>
                </a:rPr>
                <a:t>    </a:t>
              </a:r>
              <a:r>
                <a:rPr lang="en-US" altLang="zh-CN" sz="2400" dirty="0" err="1">
                  <a:ln w="0"/>
                  <a:effectLst>
                    <a:outerShdw blurRad="38100" dist="19050" dir="2700000" algn="tl" rotWithShape="0">
                      <a:schemeClr val="dk1">
                        <a:alpha val="40000"/>
                      </a:schemeClr>
                    </a:outerShdw>
                  </a:effectLst>
                </a:rPr>
                <a:t>num_layers</a:t>
              </a:r>
              <a:r>
                <a:rPr lang="en-US" altLang="zh-CN" sz="2400" dirty="0">
                  <a:ln w="0"/>
                  <a:effectLst>
                    <a:outerShdw blurRad="38100" dist="19050" dir="2700000" algn="tl" rotWithShape="0">
                      <a:schemeClr val="dk1">
                        <a:alpha val="40000"/>
                      </a:schemeClr>
                    </a:outerShdw>
                  </a:effectLst>
                </a:rPr>
                <a:t>=2, dropout=0.2,</a:t>
              </a:r>
            </a:p>
            <a:p>
              <a:r>
                <a:rPr lang="en-US" altLang="zh-CN" sz="2400" dirty="0">
                  <a:ln w="0"/>
                  <a:effectLst>
                    <a:outerShdw blurRad="38100" dist="19050" dir="2700000" algn="tl" rotWithShape="0">
                      <a:schemeClr val="dk1">
                        <a:alpha val="40000"/>
                      </a:schemeClr>
                    </a:outerShdw>
                  </a:effectLst>
                </a:rPr>
                <a:t>    </a:t>
              </a:r>
              <a:r>
                <a:rPr lang="en-US" altLang="zh-CN" sz="2400" dirty="0" err="1">
                  <a:ln w="0"/>
                  <a:effectLst>
                    <a:outerShdw blurRad="38100" dist="19050" dir="2700000" algn="tl" rotWithShape="0">
                      <a:schemeClr val="dk1">
                        <a:alpha val="40000"/>
                      </a:schemeClr>
                    </a:outerShdw>
                  </a:effectLst>
                </a:rPr>
                <a:t>batch_first</a:t>
              </a:r>
              <a:r>
                <a:rPr lang="en-US" altLang="zh-CN" sz="2400" dirty="0">
                  <a:ln w="0"/>
                  <a:effectLst>
                    <a:outerShdw blurRad="38100" dist="19050" dir="2700000" algn="tl" rotWithShape="0">
                      <a:schemeClr val="dk1">
                        <a:alpha val="40000"/>
                      </a:schemeClr>
                    </a:outerShdw>
                  </a:effectLst>
                </a:rPr>
                <a:t>=True</a:t>
              </a:r>
            </a:p>
            <a:p>
              <a:r>
                <a:rPr lang="en-US" altLang="zh-CN" sz="2400" dirty="0">
                  <a:ln w="0"/>
                  <a:effectLst>
                    <a:outerShdw blurRad="38100" dist="19050" dir="2700000" algn="tl" rotWithShape="0">
                      <a:schemeClr val="dk1">
                        <a:alpha val="40000"/>
                      </a:schemeClr>
                    </a:outerShdw>
                  </a:effectLst>
                </a:rPr>
                <a:t>)</a:t>
              </a:r>
            </a:p>
          </p:txBody>
        </p:sp>
      </p:grpSp>
    </p:spTree>
    <p:extLst>
      <p:ext uri="{BB962C8B-B14F-4D97-AF65-F5344CB8AC3E}">
        <p14:creationId xmlns:p14="http://schemas.microsoft.com/office/powerpoint/2010/main" val="473925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ADB1F-8353-867A-C892-0335D45336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5E1ED-9562-2F40-BF96-3CEC00361EE2}"/>
              </a:ext>
            </a:extLst>
          </p:cNvPr>
          <p:cNvSpPr>
            <a:spLocks noGrp="1"/>
          </p:cNvSpPr>
          <p:nvPr>
            <p:ph type="title"/>
          </p:nvPr>
        </p:nvSpPr>
        <p:spPr/>
        <p:txBody>
          <a:bodyPr>
            <a:normAutofit/>
          </a:bodyPr>
          <a:lstStyle/>
          <a:p>
            <a:r>
              <a:rPr lang="en-US" dirty="0"/>
              <a:t>Training Pipeline Optimization</a:t>
            </a:r>
          </a:p>
        </p:txBody>
      </p:sp>
      <p:sp>
        <p:nvSpPr>
          <p:cNvPr id="4" name="Content Placeholder 2">
            <a:extLst>
              <a:ext uri="{FF2B5EF4-FFF2-40B4-BE49-F238E27FC236}">
                <a16:creationId xmlns:a16="http://schemas.microsoft.com/office/drawing/2014/main" id="{AE382B45-6092-5E64-4E90-A78B60002E2C}"/>
              </a:ext>
            </a:extLst>
          </p:cNvPr>
          <p:cNvSpPr>
            <a:spLocks noGrp="1"/>
          </p:cNvSpPr>
          <p:nvPr>
            <p:ph idx="1"/>
          </p:nvPr>
        </p:nvSpPr>
        <p:spPr>
          <a:xfrm>
            <a:off x="457200" y="1883690"/>
            <a:ext cx="8229600" cy="1923540"/>
          </a:xfrm>
        </p:spPr>
        <p:txBody>
          <a:bodyPr>
            <a:noAutofit/>
          </a:bodyPr>
          <a:lstStyle/>
          <a:p>
            <a:r>
              <a:rPr lang="en-US" dirty="0"/>
              <a:t>Adam optimizer replaces LBFGS</a:t>
            </a:r>
          </a:p>
          <a:p>
            <a:r>
              <a:rPr lang="en-US" dirty="0"/>
              <a:t>Validation split + early stopping</a:t>
            </a:r>
          </a:p>
          <a:p>
            <a:r>
              <a:rPr lang="en-US" dirty="0"/>
              <a:t>Adaptive LR scheduling</a:t>
            </a:r>
          </a:p>
          <a:p>
            <a:r>
              <a:rPr lang="en-US" dirty="0"/>
              <a:t>More stable, faster convergence</a:t>
            </a:r>
          </a:p>
          <a:p>
            <a:r>
              <a:rPr lang="en-US" altLang="zh-CN" dirty="0"/>
              <a:t>Supports rigorous evaluation and tuning</a:t>
            </a:r>
          </a:p>
        </p:txBody>
      </p:sp>
      <p:sp>
        <p:nvSpPr>
          <p:cNvPr id="12" name="矩形 11">
            <a:extLst>
              <a:ext uri="{FF2B5EF4-FFF2-40B4-BE49-F238E27FC236}">
                <a16:creationId xmlns:a16="http://schemas.microsoft.com/office/drawing/2014/main" id="{F6FAC2C1-F362-0A85-FD1B-DB8AB878DFE4}"/>
              </a:ext>
            </a:extLst>
          </p:cNvPr>
          <p:cNvSpPr/>
          <p:nvPr/>
        </p:nvSpPr>
        <p:spPr>
          <a:xfrm>
            <a:off x="1072342" y="3990110"/>
            <a:ext cx="2693324" cy="236827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t>Original Pipeline</a:t>
            </a:r>
          </a:p>
          <a:p>
            <a:endParaRPr lang="en-US" dirty="0"/>
          </a:p>
          <a:p>
            <a:r>
              <a:rPr lang="en-US" dirty="0"/>
              <a:t>  - No validation set</a:t>
            </a:r>
          </a:p>
          <a:p>
            <a:r>
              <a:rPr lang="en-US" dirty="0"/>
              <a:t>  - No early stopping</a:t>
            </a:r>
          </a:p>
          <a:p>
            <a:r>
              <a:rPr lang="en-US" dirty="0"/>
              <a:t>  - LBFGS optimizer</a:t>
            </a:r>
          </a:p>
          <a:p>
            <a:r>
              <a:rPr lang="en-US" dirty="0"/>
              <a:t>  - Fixed LR</a:t>
            </a:r>
          </a:p>
          <a:p>
            <a:r>
              <a:rPr lang="en-US" dirty="0"/>
              <a:t>  - No monitoring</a:t>
            </a:r>
          </a:p>
        </p:txBody>
      </p:sp>
      <p:sp>
        <p:nvSpPr>
          <p:cNvPr id="13" name="矩形 12">
            <a:extLst>
              <a:ext uri="{FF2B5EF4-FFF2-40B4-BE49-F238E27FC236}">
                <a16:creationId xmlns:a16="http://schemas.microsoft.com/office/drawing/2014/main" id="{A9019B63-E1B9-9994-89C2-FC25B77174EF}"/>
              </a:ext>
            </a:extLst>
          </p:cNvPr>
          <p:cNvSpPr/>
          <p:nvPr/>
        </p:nvSpPr>
        <p:spPr>
          <a:xfrm>
            <a:off x="5378336" y="3990110"/>
            <a:ext cx="2693324" cy="236827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r>
              <a:rPr lang="en-US" dirty="0"/>
              <a:t>Enhanced Pipeline</a:t>
            </a:r>
          </a:p>
          <a:p>
            <a:endParaRPr lang="en-US" dirty="0"/>
          </a:p>
          <a:p>
            <a:r>
              <a:rPr lang="en-US" dirty="0"/>
              <a:t>  - Train/Val/Test split</a:t>
            </a:r>
          </a:p>
          <a:p>
            <a:r>
              <a:rPr lang="en-US" dirty="0"/>
              <a:t>  - Early stopping</a:t>
            </a:r>
          </a:p>
          <a:p>
            <a:r>
              <a:rPr lang="en-US" dirty="0"/>
              <a:t>  - Adam + LR scheduler</a:t>
            </a:r>
          </a:p>
          <a:p>
            <a:r>
              <a:rPr lang="en-US" dirty="0"/>
              <a:t>  - </a:t>
            </a:r>
            <a:r>
              <a:rPr lang="en-US" dirty="0" err="1"/>
              <a:t>ReduceLROnPlateau</a:t>
            </a:r>
            <a:endParaRPr lang="en-US" dirty="0"/>
          </a:p>
          <a:p>
            <a:r>
              <a:rPr lang="en-US" dirty="0"/>
              <a:t>  - </a:t>
            </a:r>
            <a:r>
              <a:rPr lang="en-US" dirty="0" err="1"/>
              <a:t>TensorBoard</a:t>
            </a:r>
            <a:r>
              <a:rPr lang="en-US" dirty="0"/>
              <a:t> curves</a:t>
            </a:r>
          </a:p>
        </p:txBody>
      </p:sp>
      <p:cxnSp>
        <p:nvCxnSpPr>
          <p:cNvPr id="14" name="直接箭头连接符 13">
            <a:extLst>
              <a:ext uri="{FF2B5EF4-FFF2-40B4-BE49-F238E27FC236}">
                <a16:creationId xmlns:a16="http://schemas.microsoft.com/office/drawing/2014/main" id="{0B6B4E04-160D-E38D-6D88-E124463BD7BA}"/>
              </a:ext>
            </a:extLst>
          </p:cNvPr>
          <p:cNvCxnSpPr>
            <a:cxnSpLocks/>
            <a:stCxn id="12" idx="3"/>
            <a:endCxn id="13" idx="1"/>
          </p:cNvCxnSpPr>
          <p:nvPr/>
        </p:nvCxnSpPr>
        <p:spPr>
          <a:xfrm>
            <a:off x="3765666" y="5174250"/>
            <a:ext cx="161267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2454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6762C-5FAC-5CC4-6163-84CF192BB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7D8A3A-25E9-F8F2-75EE-7E9AA9EB6194}"/>
              </a:ext>
            </a:extLst>
          </p:cNvPr>
          <p:cNvSpPr>
            <a:spLocks noGrp="1"/>
          </p:cNvSpPr>
          <p:nvPr>
            <p:ph type="title"/>
          </p:nvPr>
        </p:nvSpPr>
        <p:spPr/>
        <p:txBody>
          <a:bodyPr>
            <a:normAutofit fontScale="90000"/>
          </a:bodyPr>
          <a:lstStyle/>
          <a:p>
            <a:r>
              <a:rPr lang="en-US" dirty="0"/>
              <a:t>Engineering and Reproducibility Enhancements</a:t>
            </a:r>
          </a:p>
        </p:txBody>
      </p:sp>
      <p:sp>
        <p:nvSpPr>
          <p:cNvPr id="4" name="Content Placeholder 2">
            <a:extLst>
              <a:ext uri="{FF2B5EF4-FFF2-40B4-BE49-F238E27FC236}">
                <a16:creationId xmlns:a16="http://schemas.microsoft.com/office/drawing/2014/main" id="{0BBE034F-6B61-E2C9-4462-2BD194F69638}"/>
              </a:ext>
            </a:extLst>
          </p:cNvPr>
          <p:cNvSpPr>
            <a:spLocks noGrp="1"/>
          </p:cNvSpPr>
          <p:nvPr>
            <p:ph idx="1"/>
          </p:nvPr>
        </p:nvSpPr>
        <p:spPr>
          <a:xfrm>
            <a:off x="457200" y="1883690"/>
            <a:ext cx="8229600" cy="1898602"/>
          </a:xfrm>
        </p:spPr>
        <p:txBody>
          <a:bodyPr>
            <a:noAutofit/>
          </a:bodyPr>
          <a:lstStyle/>
          <a:p>
            <a:r>
              <a:rPr lang="en-US" dirty="0"/>
              <a:t>Centralized configuration (</a:t>
            </a:r>
            <a:r>
              <a:rPr lang="en-US" dirty="0" err="1"/>
              <a:t>config.yaml</a:t>
            </a:r>
            <a:r>
              <a:rPr lang="en-US" dirty="0"/>
              <a:t>)</a:t>
            </a:r>
            <a:endParaRPr lang="en-US" altLang="zh-CN" dirty="0"/>
          </a:p>
          <a:p>
            <a:r>
              <a:rPr lang="en-US" dirty="0"/>
              <a:t>Structured logging (timestamps &amp; levels)</a:t>
            </a:r>
          </a:p>
          <a:p>
            <a:r>
              <a:rPr lang="en-US" dirty="0"/>
              <a:t>Automatic checkpointing (best model + config snapshot)</a:t>
            </a:r>
          </a:p>
          <a:p>
            <a:r>
              <a:rPr lang="en-US" dirty="0" err="1"/>
              <a:t>TensorBoard</a:t>
            </a:r>
            <a:r>
              <a:rPr lang="en-US" dirty="0"/>
              <a:t> monitoring</a:t>
            </a:r>
          </a:p>
          <a:p>
            <a:r>
              <a:rPr lang="en-US" dirty="0"/>
              <a:t>End-to-end reproducibility of experiments</a:t>
            </a:r>
          </a:p>
        </p:txBody>
      </p:sp>
      <p:sp>
        <p:nvSpPr>
          <p:cNvPr id="6" name="矩形 5">
            <a:extLst>
              <a:ext uri="{FF2B5EF4-FFF2-40B4-BE49-F238E27FC236}">
                <a16:creationId xmlns:a16="http://schemas.microsoft.com/office/drawing/2014/main" id="{1823C053-E00D-BA13-4723-04FBDF0B8226}"/>
              </a:ext>
            </a:extLst>
          </p:cNvPr>
          <p:cNvSpPr/>
          <p:nvPr/>
        </p:nvSpPr>
        <p:spPr>
          <a:xfrm>
            <a:off x="3699163" y="3782292"/>
            <a:ext cx="1745673" cy="63176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err="1"/>
              <a:t>Config.yaml</a:t>
            </a:r>
            <a:endParaRPr lang="en-US" dirty="0"/>
          </a:p>
        </p:txBody>
      </p:sp>
      <p:sp>
        <p:nvSpPr>
          <p:cNvPr id="7" name="矩形 6">
            <a:extLst>
              <a:ext uri="{FF2B5EF4-FFF2-40B4-BE49-F238E27FC236}">
                <a16:creationId xmlns:a16="http://schemas.microsoft.com/office/drawing/2014/main" id="{1298B1D6-F75E-41B1-6B6B-F2A2ACBB7A80}"/>
              </a:ext>
            </a:extLst>
          </p:cNvPr>
          <p:cNvSpPr/>
          <p:nvPr/>
        </p:nvSpPr>
        <p:spPr>
          <a:xfrm>
            <a:off x="3699162" y="4707775"/>
            <a:ext cx="1745673" cy="63176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Training</a:t>
            </a:r>
          </a:p>
        </p:txBody>
      </p:sp>
      <p:sp>
        <p:nvSpPr>
          <p:cNvPr id="8" name="矩形 7">
            <a:extLst>
              <a:ext uri="{FF2B5EF4-FFF2-40B4-BE49-F238E27FC236}">
                <a16:creationId xmlns:a16="http://schemas.microsoft.com/office/drawing/2014/main" id="{F7E7057F-C93D-913E-0FC7-EBE95160FE84}"/>
              </a:ext>
            </a:extLst>
          </p:cNvPr>
          <p:cNvSpPr/>
          <p:nvPr/>
        </p:nvSpPr>
        <p:spPr>
          <a:xfrm>
            <a:off x="3699161" y="5633258"/>
            <a:ext cx="1745673" cy="63176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err="1"/>
              <a:t>TensorBoard</a:t>
            </a:r>
            <a:endParaRPr lang="en-US" dirty="0"/>
          </a:p>
        </p:txBody>
      </p:sp>
      <p:sp>
        <p:nvSpPr>
          <p:cNvPr id="9" name="矩形 8">
            <a:extLst>
              <a:ext uri="{FF2B5EF4-FFF2-40B4-BE49-F238E27FC236}">
                <a16:creationId xmlns:a16="http://schemas.microsoft.com/office/drawing/2014/main" id="{5C105ADD-6135-CF3D-474F-A989CE26C336}"/>
              </a:ext>
            </a:extLst>
          </p:cNvPr>
          <p:cNvSpPr/>
          <p:nvPr/>
        </p:nvSpPr>
        <p:spPr>
          <a:xfrm>
            <a:off x="1357743" y="4707774"/>
            <a:ext cx="1745673" cy="63176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Logging</a:t>
            </a:r>
          </a:p>
        </p:txBody>
      </p:sp>
      <p:sp>
        <p:nvSpPr>
          <p:cNvPr id="10" name="矩形 9">
            <a:extLst>
              <a:ext uri="{FF2B5EF4-FFF2-40B4-BE49-F238E27FC236}">
                <a16:creationId xmlns:a16="http://schemas.microsoft.com/office/drawing/2014/main" id="{4E93BB6D-8CCB-11A3-77A5-42A1FF669992}"/>
              </a:ext>
            </a:extLst>
          </p:cNvPr>
          <p:cNvSpPr/>
          <p:nvPr/>
        </p:nvSpPr>
        <p:spPr>
          <a:xfrm>
            <a:off x="6040581" y="4707773"/>
            <a:ext cx="1745673" cy="631767"/>
          </a:xfrm>
          <a:prstGeom prst="rect">
            <a:avLst/>
          </a:prstGeom>
          <a:ln>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Checkpointing</a:t>
            </a:r>
          </a:p>
        </p:txBody>
      </p:sp>
      <p:cxnSp>
        <p:nvCxnSpPr>
          <p:cNvPr id="12" name="直接箭头连接符 11">
            <a:extLst>
              <a:ext uri="{FF2B5EF4-FFF2-40B4-BE49-F238E27FC236}">
                <a16:creationId xmlns:a16="http://schemas.microsoft.com/office/drawing/2014/main" id="{79FCCFA9-C428-81F1-BB51-D2D6756BB062}"/>
              </a:ext>
            </a:extLst>
          </p:cNvPr>
          <p:cNvCxnSpPr>
            <a:stCxn id="6" idx="2"/>
            <a:endCxn id="7" idx="0"/>
          </p:cNvCxnSpPr>
          <p:nvPr/>
        </p:nvCxnSpPr>
        <p:spPr>
          <a:xfrm flipH="1">
            <a:off x="4571999" y="4414059"/>
            <a:ext cx="1" cy="2937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直接箭头连接符 12">
            <a:extLst>
              <a:ext uri="{FF2B5EF4-FFF2-40B4-BE49-F238E27FC236}">
                <a16:creationId xmlns:a16="http://schemas.microsoft.com/office/drawing/2014/main" id="{C054CAE8-315B-3D3A-0052-40C83CC99265}"/>
              </a:ext>
            </a:extLst>
          </p:cNvPr>
          <p:cNvCxnSpPr/>
          <p:nvPr/>
        </p:nvCxnSpPr>
        <p:spPr>
          <a:xfrm flipH="1">
            <a:off x="4571996" y="5339540"/>
            <a:ext cx="1" cy="2937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直接箭头连接符 15">
            <a:extLst>
              <a:ext uri="{FF2B5EF4-FFF2-40B4-BE49-F238E27FC236}">
                <a16:creationId xmlns:a16="http://schemas.microsoft.com/office/drawing/2014/main" id="{F40EBCC0-22C0-BB74-B1CB-E4E8D9E2B75F}"/>
              </a:ext>
            </a:extLst>
          </p:cNvPr>
          <p:cNvCxnSpPr>
            <a:stCxn id="7" idx="3"/>
            <a:endCxn id="10" idx="1"/>
          </p:cNvCxnSpPr>
          <p:nvPr/>
        </p:nvCxnSpPr>
        <p:spPr>
          <a:xfrm flipV="1">
            <a:off x="5444835" y="5023657"/>
            <a:ext cx="595746" cy="2"/>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7400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3F452-0AA1-E028-1915-2B385A327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5FC1A-1AC3-30F7-831F-8696E7AADCDC}"/>
              </a:ext>
            </a:extLst>
          </p:cNvPr>
          <p:cNvSpPr>
            <a:spLocks noGrp="1"/>
          </p:cNvSpPr>
          <p:nvPr>
            <p:ph type="title"/>
          </p:nvPr>
        </p:nvSpPr>
        <p:spPr/>
        <p:txBody>
          <a:bodyPr>
            <a:normAutofit fontScale="90000"/>
          </a:bodyPr>
          <a:lstStyle/>
          <a:p>
            <a:r>
              <a:rPr lang="en-US" dirty="0"/>
              <a:t>Baseline vs Enhanced Prediction</a:t>
            </a:r>
          </a:p>
        </p:txBody>
      </p:sp>
      <p:pic>
        <p:nvPicPr>
          <p:cNvPr id="14" name="图片 13">
            <a:extLst>
              <a:ext uri="{FF2B5EF4-FFF2-40B4-BE49-F238E27FC236}">
                <a16:creationId xmlns:a16="http://schemas.microsoft.com/office/drawing/2014/main" id="{D95C8F28-53C8-BBFE-E31E-0B46F6C06AAA}"/>
              </a:ext>
            </a:extLst>
          </p:cNvPr>
          <p:cNvPicPr>
            <a:picLocks noChangeAspect="1"/>
          </p:cNvPicPr>
          <p:nvPr/>
        </p:nvPicPr>
        <p:blipFill>
          <a:blip r:embed="rId3"/>
          <a:stretch>
            <a:fillRect/>
          </a:stretch>
        </p:blipFill>
        <p:spPr>
          <a:xfrm>
            <a:off x="0" y="1785991"/>
            <a:ext cx="9144000" cy="3552024"/>
          </a:xfrm>
          <a:prstGeom prst="rect">
            <a:avLst/>
          </a:prstGeom>
        </p:spPr>
      </p:pic>
      <p:sp>
        <p:nvSpPr>
          <p:cNvPr id="15" name="矩形 14">
            <a:extLst>
              <a:ext uri="{FF2B5EF4-FFF2-40B4-BE49-F238E27FC236}">
                <a16:creationId xmlns:a16="http://schemas.microsoft.com/office/drawing/2014/main" id="{6A29D5A5-DBFD-F0C3-8EB5-308E1F66B5ED}"/>
              </a:ext>
            </a:extLst>
          </p:cNvPr>
          <p:cNvSpPr/>
          <p:nvPr/>
        </p:nvSpPr>
        <p:spPr>
          <a:xfrm>
            <a:off x="2752399" y="5705839"/>
            <a:ext cx="3639201" cy="461665"/>
          </a:xfrm>
          <a:prstGeom prst="rect">
            <a:avLst/>
          </a:prstGeom>
          <a:noFill/>
        </p:spPr>
        <p:txBody>
          <a:bodyPr wrap="none" lIns="91440" tIns="45720" rIns="91440" bIns="45720">
            <a:spAutoFit/>
          </a:bodyPr>
          <a:lstStyle/>
          <a:p>
            <a:pPr algn="ctr"/>
            <a:r>
              <a:rPr lang="en-US" sz="2400" dirty="0"/>
              <a:t>(a) Original Implementation</a:t>
            </a:r>
            <a:endParaRPr lang="zh-CN" altLang="en-US" sz="2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522376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4BC3E-57FD-DBA0-59BD-B581B3F2BC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9EB39F-A2E5-5E32-E2F7-8E4029A1DE79}"/>
              </a:ext>
            </a:extLst>
          </p:cNvPr>
          <p:cNvSpPr>
            <a:spLocks noGrp="1"/>
          </p:cNvSpPr>
          <p:nvPr>
            <p:ph type="title"/>
          </p:nvPr>
        </p:nvSpPr>
        <p:spPr/>
        <p:txBody>
          <a:bodyPr>
            <a:normAutofit fontScale="90000"/>
          </a:bodyPr>
          <a:lstStyle/>
          <a:p>
            <a:r>
              <a:rPr lang="en-US" dirty="0"/>
              <a:t>Baseline vs Enhanced Prediction</a:t>
            </a:r>
          </a:p>
        </p:txBody>
      </p:sp>
      <p:sp>
        <p:nvSpPr>
          <p:cNvPr id="15" name="矩形 14">
            <a:extLst>
              <a:ext uri="{FF2B5EF4-FFF2-40B4-BE49-F238E27FC236}">
                <a16:creationId xmlns:a16="http://schemas.microsoft.com/office/drawing/2014/main" id="{D67F5789-0ADB-5124-0938-B4DF78C2841A}"/>
              </a:ext>
            </a:extLst>
          </p:cNvPr>
          <p:cNvSpPr/>
          <p:nvPr/>
        </p:nvSpPr>
        <p:spPr>
          <a:xfrm>
            <a:off x="2618548" y="5705839"/>
            <a:ext cx="3906903" cy="461665"/>
          </a:xfrm>
          <a:prstGeom prst="rect">
            <a:avLst/>
          </a:prstGeom>
          <a:noFill/>
        </p:spPr>
        <p:txBody>
          <a:bodyPr wrap="none" lIns="91440" tIns="45720" rIns="91440" bIns="45720">
            <a:spAutoFit/>
          </a:bodyPr>
          <a:lstStyle/>
          <a:p>
            <a:r>
              <a:rPr lang="en-US" sz="2400" dirty="0"/>
              <a:t>(b) Enhanced Implementation</a:t>
            </a:r>
          </a:p>
        </p:txBody>
      </p:sp>
      <p:pic>
        <p:nvPicPr>
          <p:cNvPr id="4" name="图片 3">
            <a:extLst>
              <a:ext uri="{FF2B5EF4-FFF2-40B4-BE49-F238E27FC236}">
                <a16:creationId xmlns:a16="http://schemas.microsoft.com/office/drawing/2014/main" id="{143220EB-B206-76F3-681C-B58FC5D029BB}"/>
              </a:ext>
            </a:extLst>
          </p:cNvPr>
          <p:cNvPicPr>
            <a:picLocks noChangeAspect="1"/>
          </p:cNvPicPr>
          <p:nvPr/>
        </p:nvPicPr>
        <p:blipFill>
          <a:blip r:embed="rId3"/>
          <a:stretch>
            <a:fillRect/>
          </a:stretch>
        </p:blipFill>
        <p:spPr>
          <a:xfrm>
            <a:off x="0" y="1866742"/>
            <a:ext cx="9144000" cy="3390521"/>
          </a:xfrm>
          <a:prstGeom prst="rect">
            <a:avLst/>
          </a:prstGeom>
        </p:spPr>
      </p:pic>
    </p:spTree>
    <p:extLst>
      <p:ext uri="{BB962C8B-B14F-4D97-AF65-F5344CB8AC3E}">
        <p14:creationId xmlns:p14="http://schemas.microsoft.com/office/powerpoint/2010/main" val="3130970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A4F93-2D96-6B2E-CB42-11DB512237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B5486F-6289-DD98-9C57-0FE8ED2C2954}"/>
              </a:ext>
            </a:extLst>
          </p:cNvPr>
          <p:cNvSpPr>
            <a:spLocks noGrp="1"/>
          </p:cNvSpPr>
          <p:nvPr>
            <p:ph type="title"/>
          </p:nvPr>
        </p:nvSpPr>
        <p:spPr/>
        <p:txBody>
          <a:bodyPr>
            <a:normAutofit/>
          </a:bodyPr>
          <a:lstStyle/>
          <a:p>
            <a:r>
              <a:rPr lang="en-US" dirty="0"/>
              <a:t>Performance Summary</a:t>
            </a:r>
          </a:p>
        </p:txBody>
      </p:sp>
      <p:sp>
        <p:nvSpPr>
          <p:cNvPr id="4" name="Content Placeholder 2">
            <a:extLst>
              <a:ext uri="{FF2B5EF4-FFF2-40B4-BE49-F238E27FC236}">
                <a16:creationId xmlns:a16="http://schemas.microsoft.com/office/drawing/2014/main" id="{AC6A7AB9-5852-3CB4-26F8-48BDB6EC2791}"/>
              </a:ext>
            </a:extLst>
          </p:cNvPr>
          <p:cNvSpPr>
            <a:spLocks noGrp="1"/>
          </p:cNvSpPr>
          <p:nvPr>
            <p:ph idx="1"/>
          </p:nvPr>
        </p:nvSpPr>
        <p:spPr>
          <a:xfrm>
            <a:off x="457200" y="1883690"/>
            <a:ext cx="8229600" cy="1624281"/>
          </a:xfrm>
        </p:spPr>
        <p:txBody>
          <a:bodyPr>
            <a:noAutofit/>
          </a:bodyPr>
          <a:lstStyle/>
          <a:p>
            <a:r>
              <a:rPr lang="en-US" b="1" dirty="0"/>
              <a:t>Training efficiency improved</a:t>
            </a:r>
            <a:r>
              <a:rPr lang="en-US" dirty="0"/>
              <a:t> (2–3× faster per epoch)</a:t>
            </a:r>
            <a:endParaRPr lang="en-US" altLang="zh-CN" dirty="0"/>
          </a:p>
          <a:p>
            <a:r>
              <a:rPr lang="en-US" b="1" dirty="0"/>
              <a:t>Forecast stability improved</a:t>
            </a:r>
            <a:r>
              <a:rPr lang="en-US" dirty="0"/>
              <a:t> (no oscillation / no divergence)</a:t>
            </a:r>
          </a:p>
          <a:p>
            <a:r>
              <a:rPr lang="en-US" b="1" dirty="0"/>
              <a:t>Better convergence control</a:t>
            </a:r>
            <a:r>
              <a:rPr lang="en-US" dirty="0"/>
              <a:t> (Adam, LR scheduling, early stopping)</a:t>
            </a:r>
          </a:p>
          <a:p>
            <a:r>
              <a:rPr lang="en-US" b="1" dirty="0"/>
              <a:t>Full reproducibility</a:t>
            </a:r>
            <a:r>
              <a:rPr lang="en-US" dirty="0"/>
              <a:t> (config, logs, checkpoints, </a:t>
            </a:r>
            <a:r>
              <a:rPr lang="en-US" dirty="0" err="1"/>
              <a:t>TensorBoard</a:t>
            </a:r>
            <a:r>
              <a:rPr lang="en-US" dirty="0"/>
              <a:t>)</a:t>
            </a:r>
          </a:p>
        </p:txBody>
      </p:sp>
      <p:graphicFrame>
        <p:nvGraphicFramePr>
          <p:cNvPr id="3" name="表格 2">
            <a:extLst>
              <a:ext uri="{FF2B5EF4-FFF2-40B4-BE49-F238E27FC236}">
                <a16:creationId xmlns:a16="http://schemas.microsoft.com/office/drawing/2014/main" id="{140E1DD2-C903-2F5E-AF55-CB7F5699DD19}"/>
              </a:ext>
            </a:extLst>
          </p:cNvPr>
          <p:cNvGraphicFramePr>
            <a:graphicFrameLocks noGrp="1"/>
          </p:cNvGraphicFramePr>
          <p:nvPr>
            <p:extLst>
              <p:ext uri="{D42A27DB-BD31-4B8C-83A1-F6EECF244321}">
                <p14:modId xmlns:p14="http://schemas.microsoft.com/office/powerpoint/2010/main" val="380257617"/>
              </p:ext>
            </p:extLst>
          </p:nvPr>
        </p:nvGraphicFramePr>
        <p:xfrm>
          <a:off x="532015" y="3983664"/>
          <a:ext cx="8079969" cy="1854200"/>
        </p:xfrm>
        <a:graphic>
          <a:graphicData uri="http://schemas.openxmlformats.org/drawingml/2006/table">
            <a:tbl>
              <a:tblPr firstRow="1" bandRow="1">
                <a:tableStyleId>{5C22544A-7EE6-4342-B048-85BDC9FD1C3A}</a:tableStyleId>
              </a:tblPr>
              <a:tblGrid>
                <a:gridCol w="2693323">
                  <a:extLst>
                    <a:ext uri="{9D8B030D-6E8A-4147-A177-3AD203B41FA5}">
                      <a16:colId xmlns:a16="http://schemas.microsoft.com/office/drawing/2014/main" val="2831718314"/>
                    </a:ext>
                  </a:extLst>
                </a:gridCol>
                <a:gridCol w="2693323">
                  <a:extLst>
                    <a:ext uri="{9D8B030D-6E8A-4147-A177-3AD203B41FA5}">
                      <a16:colId xmlns:a16="http://schemas.microsoft.com/office/drawing/2014/main" val="1052674629"/>
                    </a:ext>
                  </a:extLst>
                </a:gridCol>
                <a:gridCol w="2693323">
                  <a:extLst>
                    <a:ext uri="{9D8B030D-6E8A-4147-A177-3AD203B41FA5}">
                      <a16:colId xmlns:a16="http://schemas.microsoft.com/office/drawing/2014/main" val="3576518852"/>
                    </a:ext>
                  </a:extLst>
                </a:gridCol>
              </a:tblGrid>
              <a:tr h="370840">
                <a:tc>
                  <a:txBody>
                    <a:bodyPr/>
                    <a:lstStyle/>
                    <a:p>
                      <a:pPr algn="ctr"/>
                      <a:r>
                        <a:rPr lang="en-US" dirty="0"/>
                        <a:t>Metric</a:t>
                      </a:r>
                    </a:p>
                  </a:txBody>
                  <a:tcPr/>
                </a:tc>
                <a:tc>
                  <a:txBody>
                    <a:bodyPr/>
                    <a:lstStyle/>
                    <a:p>
                      <a:pPr algn="ctr"/>
                      <a:r>
                        <a:rPr lang="en-US" dirty="0"/>
                        <a:t>Original</a:t>
                      </a:r>
                    </a:p>
                  </a:txBody>
                  <a:tcPr/>
                </a:tc>
                <a:tc>
                  <a:txBody>
                    <a:bodyPr/>
                    <a:lstStyle/>
                    <a:p>
                      <a:pPr algn="ctr"/>
                      <a:r>
                        <a:rPr lang="en-US" dirty="0"/>
                        <a:t>Enhanced</a:t>
                      </a:r>
                    </a:p>
                  </a:txBody>
                  <a:tcPr/>
                </a:tc>
                <a:extLst>
                  <a:ext uri="{0D108BD9-81ED-4DB2-BD59-A6C34878D82A}">
                    <a16:rowId xmlns:a16="http://schemas.microsoft.com/office/drawing/2014/main" val="3050635210"/>
                  </a:ext>
                </a:extLst>
              </a:tr>
              <a:tr h="370840">
                <a:tc>
                  <a:txBody>
                    <a:bodyPr/>
                    <a:lstStyle/>
                    <a:p>
                      <a:pPr algn="ctr"/>
                      <a:r>
                        <a:rPr lang="en-US" dirty="0"/>
                        <a:t>Training stability</a:t>
                      </a:r>
                    </a:p>
                  </a:txBody>
                  <a:tcPr/>
                </a:tc>
                <a:tc>
                  <a:txBody>
                    <a:bodyPr/>
                    <a:lstStyle/>
                    <a:p>
                      <a:pPr algn="ctr"/>
                      <a:r>
                        <a:rPr lang="en-US" dirty="0"/>
                        <a:t>Low</a:t>
                      </a:r>
                    </a:p>
                  </a:txBody>
                  <a:tcPr/>
                </a:tc>
                <a:tc>
                  <a:txBody>
                    <a:bodyPr/>
                    <a:lstStyle/>
                    <a:p>
                      <a:pPr algn="ctr"/>
                      <a:r>
                        <a:rPr lang="en-US" dirty="0"/>
                        <a:t>High</a:t>
                      </a:r>
                    </a:p>
                  </a:txBody>
                  <a:tcPr/>
                </a:tc>
                <a:extLst>
                  <a:ext uri="{0D108BD9-81ED-4DB2-BD59-A6C34878D82A}">
                    <a16:rowId xmlns:a16="http://schemas.microsoft.com/office/drawing/2014/main" val="1676167914"/>
                  </a:ext>
                </a:extLst>
              </a:tr>
              <a:tr h="370840">
                <a:tc>
                  <a:txBody>
                    <a:bodyPr/>
                    <a:lstStyle/>
                    <a:p>
                      <a:pPr algn="ctr"/>
                      <a:r>
                        <a:rPr lang="en-US" dirty="0"/>
                        <a:t>Prediction coherence</a:t>
                      </a:r>
                    </a:p>
                  </a:txBody>
                  <a:tcPr/>
                </a:tc>
                <a:tc>
                  <a:txBody>
                    <a:bodyPr/>
                    <a:lstStyle/>
                    <a:p>
                      <a:pPr algn="ctr"/>
                      <a:r>
                        <a:rPr lang="en-US" dirty="0"/>
                        <a:t>Poor</a:t>
                      </a:r>
                    </a:p>
                  </a:txBody>
                  <a:tcPr/>
                </a:tc>
                <a:tc>
                  <a:txBody>
                    <a:bodyPr/>
                    <a:lstStyle/>
                    <a:p>
                      <a:pPr algn="ctr"/>
                      <a:r>
                        <a:rPr lang="en-US" dirty="0"/>
                        <a:t>Strong</a:t>
                      </a:r>
                    </a:p>
                  </a:txBody>
                  <a:tcPr/>
                </a:tc>
                <a:extLst>
                  <a:ext uri="{0D108BD9-81ED-4DB2-BD59-A6C34878D82A}">
                    <a16:rowId xmlns:a16="http://schemas.microsoft.com/office/drawing/2014/main" val="527003888"/>
                  </a:ext>
                </a:extLst>
              </a:tr>
              <a:tr h="370840">
                <a:tc>
                  <a:txBody>
                    <a:bodyPr/>
                    <a:lstStyle/>
                    <a:p>
                      <a:pPr algn="ctr"/>
                      <a:r>
                        <a:rPr lang="en-US" dirty="0"/>
                        <a:t>Engineering support</a:t>
                      </a:r>
                    </a:p>
                  </a:txBody>
                  <a:tcPr/>
                </a:tc>
                <a:tc>
                  <a:txBody>
                    <a:bodyPr/>
                    <a:lstStyle/>
                    <a:p>
                      <a:pPr algn="ctr"/>
                      <a:r>
                        <a:rPr lang="en-US" dirty="0"/>
                        <a:t>Minimal</a:t>
                      </a:r>
                    </a:p>
                  </a:txBody>
                  <a:tcPr/>
                </a:tc>
                <a:tc>
                  <a:txBody>
                    <a:bodyPr/>
                    <a:lstStyle/>
                    <a:p>
                      <a:pPr algn="ctr"/>
                      <a:r>
                        <a:rPr lang="en-US" dirty="0"/>
                        <a:t>Full</a:t>
                      </a:r>
                    </a:p>
                  </a:txBody>
                  <a:tcPr/>
                </a:tc>
                <a:extLst>
                  <a:ext uri="{0D108BD9-81ED-4DB2-BD59-A6C34878D82A}">
                    <a16:rowId xmlns:a16="http://schemas.microsoft.com/office/drawing/2014/main" val="2789660730"/>
                  </a:ext>
                </a:extLst>
              </a:tr>
              <a:tr h="370840">
                <a:tc>
                  <a:txBody>
                    <a:bodyPr/>
                    <a:lstStyle/>
                    <a:p>
                      <a:pPr algn="ctr"/>
                      <a:r>
                        <a:rPr lang="en-US" dirty="0"/>
                        <a:t>Long-horizon behavior</a:t>
                      </a:r>
                    </a:p>
                  </a:txBody>
                  <a:tcPr/>
                </a:tc>
                <a:tc>
                  <a:txBody>
                    <a:bodyPr/>
                    <a:lstStyle/>
                    <a:p>
                      <a:pPr algn="ctr"/>
                      <a:r>
                        <a:rPr lang="en-US" dirty="0"/>
                        <a:t>Divergent</a:t>
                      </a:r>
                    </a:p>
                  </a:txBody>
                  <a:tcPr/>
                </a:tc>
                <a:tc>
                  <a:txBody>
                    <a:bodyPr/>
                    <a:lstStyle/>
                    <a:p>
                      <a:pPr algn="ctr"/>
                      <a:r>
                        <a:rPr lang="en-US" dirty="0"/>
                        <a:t>Stable</a:t>
                      </a:r>
                    </a:p>
                  </a:txBody>
                  <a:tcPr/>
                </a:tc>
                <a:extLst>
                  <a:ext uri="{0D108BD9-81ED-4DB2-BD59-A6C34878D82A}">
                    <a16:rowId xmlns:a16="http://schemas.microsoft.com/office/drawing/2014/main" val="406885449"/>
                  </a:ext>
                </a:extLst>
              </a:tr>
            </a:tbl>
          </a:graphicData>
        </a:graphic>
      </p:graphicFrame>
    </p:spTree>
    <p:extLst>
      <p:ext uri="{BB962C8B-B14F-4D97-AF65-F5344CB8AC3E}">
        <p14:creationId xmlns:p14="http://schemas.microsoft.com/office/powerpoint/2010/main" val="1246325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E2789-6251-1907-4B9B-A1CD4B1E7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F369A-9F4A-7921-2A8F-423A279F7FB0}"/>
              </a:ext>
            </a:extLst>
          </p:cNvPr>
          <p:cNvSpPr>
            <a:spLocks noGrp="1"/>
          </p:cNvSpPr>
          <p:nvPr>
            <p:ph type="title"/>
          </p:nvPr>
        </p:nvSpPr>
        <p:spPr/>
        <p:txBody>
          <a:bodyPr>
            <a:normAutofit/>
          </a:bodyPr>
          <a:lstStyle/>
          <a:p>
            <a:r>
              <a:rPr lang="en-US" dirty="0"/>
              <a:t>Conclusion</a:t>
            </a:r>
          </a:p>
        </p:txBody>
      </p:sp>
      <p:sp>
        <p:nvSpPr>
          <p:cNvPr id="4" name="Content Placeholder 2">
            <a:extLst>
              <a:ext uri="{FF2B5EF4-FFF2-40B4-BE49-F238E27FC236}">
                <a16:creationId xmlns:a16="http://schemas.microsoft.com/office/drawing/2014/main" id="{97F24A6D-F55B-0DE0-D809-CD7DA0E647D2}"/>
              </a:ext>
            </a:extLst>
          </p:cNvPr>
          <p:cNvSpPr>
            <a:spLocks noGrp="1"/>
          </p:cNvSpPr>
          <p:nvPr>
            <p:ph idx="1"/>
          </p:nvPr>
        </p:nvSpPr>
        <p:spPr>
          <a:xfrm>
            <a:off x="457200" y="2332577"/>
            <a:ext cx="8229600" cy="3536208"/>
          </a:xfrm>
        </p:spPr>
        <p:txBody>
          <a:bodyPr>
            <a:noAutofit/>
          </a:bodyPr>
          <a:lstStyle/>
          <a:p>
            <a:r>
              <a:rPr lang="en-US" dirty="0"/>
              <a:t>Redesigned architecture improves stability and prediction quality</a:t>
            </a:r>
          </a:p>
          <a:p>
            <a:r>
              <a:rPr lang="en-US" dirty="0"/>
              <a:t>Optimized training pipeline enables controlled and reliable convergence</a:t>
            </a:r>
          </a:p>
          <a:p>
            <a:r>
              <a:rPr lang="en-US" dirty="0"/>
              <a:t>Engineering enhancements provide full reproducibility and transparency</a:t>
            </a:r>
          </a:p>
          <a:p>
            <a:r>
              <a:rPr lang="en-US" dirty="0"/>
              <a:t>Scope refinement makes prediction meaningful in real server environments</a:t>
            </a:r>
          </a:p>
          <a:p>
            <a:r>
              <a:rPr lang="en-US" dirty="0" err="1"/>
              <a:t>KernelOracle</a:t>
            </a:r>
            <a:r>
              <a:rPr lang="en-US" dirty="0"/>
              <a:t> evolves from a prototype into a robust predictive framework</a:t>
            </a:r>
          </a:p>
        </p:txBody>
      </p:sp>
    </p:spTree>
    <p:extLst>
      <p:ext uri="{BB962C8B-B14F-4D97-AF65-F5344CB8AC3E}">
        <p14:creationId xmlns:p14="http://schemas.microsoft.com/office/powerpoint/2010/main" val="41838015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jA3ZjUwZDkwNDkzMDdjN2Q3YzI5ZWZjYTViZTMxMDIifQ=="/>
</p:tagLst>
</file>

<file path=ppt/theme/theme1.xml><?xml version="1.0" encoding="utf-8"?>
<a:theme xmlns:a="http://schemas.openxmlformats.org/drawingml/2006/main" name="white-oakleaf-standard-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Status xmlns="http://schemas.microsoft.com/sharepoint/v3/fields">Not Started</_Statu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E64AEEDD9B7A4D93545ACBE97D4615" ma:contentTypeVersion="2" ma:contentTypeDescription="Create a new document." ma:contentTypeScope="" ma:versionID="f49002b78e3a4a71b814eef46a983816">
  <xsd:schema xmlns:xsd="http://www.w3.org/2001/XMLSchema" xmlns:xs="http://www.w3.org/2001/XMLSchema" xmlns:p="http://schemas.microsoft.com/office/2006/metadata/properties" xmlns:ns2="http://schemas.microsoft.com/sharepoint/v3/fields" targetNamespace="http://schemas.microsoft.com/office/2006/metadata/properties" ma:root="true" ma:fieldsID="38f6db2dd0d9a0cf6a8dc37be32b365b" ns2:_="">
    <xsd:import namespace="http://schemas.microsoft.com/sharepoint/v3/fields"/>
    <xsd:element name="properties">
      <xsd:complexType>
        <xsd:sequence>
          <xsd:element name="documentManagement">
            <xsd:complexType>
              <xsd:all>
                <xsd:element ref="ns2:_Status" minOccurs="0"/>
                <xsd:element ref="ns2:_Vers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element name="_Version" ma:index="9"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B6F2769-7194-4217-93D3-3AF3A4742282}">
  <ds:schemaRefs/>
</ds:datastoreItem>
</file>

<file path=customXml/itemProps2.xml><?xml version="1.0" encoding="utf-8"?>
<ds:datastoreItem xmlns:ds="http://schemas.openxmlformats.org/officeDocument/2006/customXml" ds:itemID="{E4214858-785C-42F7-BE66-6D0E79395FC8}">
  <ds:schemaRefs/>
</ds:datastoreItem>
</file>

<file path=customXml/itemProps3.xml><?xml version="1.0" encoding="utf-8"?>
<ds:datastoreItem xmlns:ds="http://schemas.openxmlformats.org/officeDocument/2006/customXml" ds:itemID="{87D2A1B0-FF3E-4009-940D-AED0EB70AA20}">
  <ds:schemaRefs/>
</ds:datastoreItem>
</file>

<file path=docProps/app.xml><?xml version="1.0" encoding="utf-8"?>
<Properties xmlns="http://schemas.openxmlformats.org/officeDocument/2006/extended-properties" xmlns:vt="http://schemas.openxmlformats.org/officeDocument/2006/docPropsVTypes">
  <Template>white-oakleaf-standard-template.potx</Template>
  <TotalTime>2001</TotalTime>
  <Words>3100</Words>
  <Application>Microsoft Office PowerPoint</Application>
  <PresentationFormat>全屏显示(4:3)</PresentationFormat>
  <Paragraphs>191</Paragraphs>
  <Slides>11</Slides>
  <Notes>11</Notes>
  <HiddenSlides>0</HiddenSlides>
  <MMClips>0</MMClips>
  <ScaleCrop>false</ScaleCrop>
  <HeadingPairs>
    <vt:vector size="6" baseType="variant">
      <vt:variant>
        <vt:lpstr>已用的字体</vt:lpstr>
      </vt:variant>
      <vt:variant>
        <vt:i4>3</vt:i4>
      </vt:variant>
      <vt:variant>
        <vt:lpstr>主题</vt:lpstr>
      </vt:variant>
      <vt:variant>
        <vt:i4>3</vt:i4>
      </vt:variant>
      <vt:variant>
        <vt:lpstr>幻灯片标题</vt:lpstr>
      </vt:variant>
      <vt:variant>
        <vt:i4>11</vt:i4>
      </vt:variant>
    </vt:vector>
  </HeadingPairs>
  <TitlesOfParts>
    <vt:vector size="17" baseType="lpstr">
      <vt:lpstr>Aptos</vt:lpstr>
      <vt:lpstr>Arial</vt:lpstr>
      <vt:lpstr>Calibri</vt:lpstr>
      <vt:lpstr>white-oakleaf-standard-template</vt:lpstr>
      <vt:lpstr>1_Custom Design</vt:lpstr>
      <vt:lpstr>Custom Design</vt:lpstr>
      <vt:lpstr>PowerPoint 演示文稿</vt:lpstr>
      <vt:lpstr>What Problem Does KernelOracle Try to Solve?</vt:lpstr>
      <vt:lpstr>What Limitations Exist in the Original KernelOracle?</vt:lpstr>
      <vt:lpstr>Refining the Prediction Scope</vt:lpstr>
      <vt:lpstr>Model Architecture Enhancement</vt:lpstr>
      <vt:lpstr>Training Pipeline Optimization</vt:lpstr>
      <vt:lpstr>Engineering and Reproducibility Enhancements</vt:lpstr>
      <vt:lpstr>Baseline vs Enhanced Prediction</vt:lpstr>
      <vt:lpstr>Baseline vs Enhanced Prediction</vt:lpstr>
      <vt:lpstr>Performance Summary</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FileNewTemplate</dc:title>
  <dc:creator>Diana</dc:creator>
  <cp:lastModifiedBy>子旭 沈</cp:lastModifiedBy>
  <cp:revision>180</cp:revision>
  <dcterms:created xsi:type="dcterms:W3CDTF">2010-04-12T23:12:00Z</dcterms:created>
  <dcterms:modified xsi:type="dcterms:W3CDTF">2025-11-15T19:11:14Z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y fmtid="{D5CDD505-2E9C-101B-9397-08002B2CF9AE}" pid="3" name="ICV">
    <vt:lpwstr>E2E42E111DC8412C9E0E9FEF26A58B48_12</vt:lpwstr>
  </property>
  <property fmtid="{D5CDD505-2E9C-101B-9397-08002B2CF9AE}" pid="4" name="KSOProductBuildVer">
    <vt:lpwstr>2052-12.1.0.16364</vt:lpwstr>
  </property>
</Properties>
</file>